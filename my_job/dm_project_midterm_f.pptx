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"/>
    <p:sldId id="263" r:id="rId3"/>
    <p:sldId id="287" r:id="rId4"/>
    <p:sldId id="286" r:id="rId5"/>
    <p:sldId id="288" r:id="rId6"/>
    <p:sldId id="289" r:id="rId7"/>
    <p:sldId id="265" r:id="rId8"/>
    <p:sldId id="283" r:id="rId9"/>
    <p:sldId id="274" r:id="rId10"/>
    <p:sldId id="282" r:id="rId11"/>
    <p:sldId id="284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264" r:id="rId26"/>
    <p:sldId id="280" r:id="rId27"/>
  </p:sldIdLst>
  <p:sldSz cx="12192000" cy="6858000"/>
  <p:notesSz cx="6858000" cy="9144000"/>
  <p:embeddedFontLst>
    <p:embeddedFont>
      <p:font typeface="나눔스퀘어 네오 Bold"/>
      <p:bold r:id="rId28"/>
    </p:embeddedFont>
    <p:embeddedFont>
      <p:font typeface="나눔바른펜" panose="020B0503000000000000" pitchFamily="50" charset="-127"/>
      <p:regular r:id="rId29"/>
      <p:bold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서평원 꺾깎체 TTF" panose="020B0600000101010101" pitchFamily="50" charset="-127"/>
      <p:regular r:id="rId33"/>
    </p:embeddedFont>
    <p:embeddedFont>
      <p:font typeface="카페24 써라운드" panose="020F0800000000000000" pitchFamily="50" charset="-127"/>
      <p:bold r:id="rId34"/>
    </p:embeddedFont>
    <p:embeddedFont>
      <p:font typeface="코트라 볼드체" panose="02020603020101020101" pitchFamily="18" charset="-127"/>
      <p:bold r:id="rId35"/>
    </p:embeddedFont>
    <p:embeddedFont>
      <p:font typeface="함초롬돋움" panose="020B0604000101010101" pitchFamily="50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17173F-CF04-3F2B-C88B-9ED067A8A6D1}" name="조 시훈" initials="조시" userId="4bf98f8489b5b01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E9E6"/>
    <a:srgbClr val="D4E0DC"/>
    <a:srgbClr val="90B3A6"/>
    <a:srgbClr val="4472C4"/>
    <a:srgbClr val="F2F2F2"/>
    <a:srgbClr val="F6F8F7"/>
    <a:srgbClr val="E3E9E6"/>
    <a:srgbClr val="6B9989"/>
    <a:srgbClr val="577F71"/>
    <a:srgbClr val="225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8068EA-5F37-40BD-B98B-A30A181BC603}" v="18" dt="2026-05-08T14:05:47.513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39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7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167A5-8E19-4287-A5A5-182C23939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868C66-BDC6-425C-A64E-07F512B20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9C98E-9C04-42A3-8E96-7AB92EDA8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821DD-D63F-4DFC-9ED4-A2773BA09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C3174C-CB5B-4ED4-8A12-E5DAD46A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D21427-D1CC-4F36-9253-E35C17E0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B36A4A-801D-478A-82BF-5532E5456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03F5E-B49D-42DB-AB18-D00419D1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570E1-79D9-4BDD-A0EB-F7240CFE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4A56D-3608-4C62-BD94-91666C01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1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04B5B-F879-4648-8183-CD41F248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59DDCA-97E0-4977-A58C-763C2EF3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07FA0-4E73-4316-8316-C5CADDB0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0F629-5296-4627-AF22-9B8F5C40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65B7D9-FF22-40F1-AEDC-8EDF4E22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9BFF0-6377-44CD-B38E-DFC1BC1A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CE942C-EC7B-4E8D-93E9-E74C43DD7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36F9B1-9E59-4227-ABD6-B5237A43C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A54C25-C162-4E36-8B99-850EB58CA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ADAE05-274B-4849-8970-87980862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6BB29B-E888-41FD-86FA-E7327D2B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29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058573-97B6-4145-BA8F-B5A2E9A9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74BFD-7E1C-4F33-943D-C3EF1FCF6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2D9117-E11C-447F-B189-EFCEA0D8F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38D753-3F11-4161-B7C2-7AB4DB2AA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49279-6350-4888-BDEE-E23965273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6ED4DB-473D-450C-AFE0-B2C2EE760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0E21D3-C708-4B9E-B4EE-22B72F305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0B3CF6-3FA4-4249-A2DE-C2DA9C62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8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727B2-4DCA-44ED-BA8E-5DD413A7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0267B0-613C-4775-8C6D-4053443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B99756-F6A6-44B4-B2A7-116A5387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E2FA5-2ABB-40E0-A163-7960945F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36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875976-181E-47FF-8AB2-4228C83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BDE05F-765F-4756-8827-94BB5DF1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B7A9B6-360E-45BD-A13A-0DC4AF56F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3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7125B-EA7E-427B-9ACD-900D19AB7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DC384-0088-48E5-BF10-0154C289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306238-E145-4F91-A323-2C9F0E2E6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32E768-95E2-49A0-8C57-D71AD807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F6A07-CFBE-47CA-9B7C-C6A145BE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0326C8-48BA-4C6B-85C8-FD51E00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4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FF28A8-0EF6-4E5D-9CB7-753067033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E72328-9FEB-4F00-BF48-708B43DD4E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CCC943-29AE-4146-A364-35A4A5CE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B4FF9A-CFF6-4E26-A086-7BDFAC6AB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16D5EA-4650-434D-BA45-8C4E955B7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DF890F-E5FC-44B3-B340-4B95E642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9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4AC389-A145-4EAC-91FD-8BE4CC63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23409C-A9AD-4092-BB31-C70684CB9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746BC-2987-4C18-AE11-C303E956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167C-7967-42F2-9F7A-8B4254B2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739B12-0C32-480C-B698-DD1EE7908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59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615DA-21BA-46CC-AEEC-38AB4AB1E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FF0AB8-28CC-4AF2-82FF-10B3BDCD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4B39D-3F26-4AD3-AC98-F42E615E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94A13-5F6A-4E47-9667-4FF1B188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D8CA7-8190-46A8-913E-C495BB0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8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3F36F0-33A4-4F3F-AD9C-E3E73E12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B2653-5E91-4E6E-856F-5AA3BE78F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C091DC-E192-492F-8E05-1D2DDCD14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B74E3-1C4A-42D3-837B-4AE68FB7ECCC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BDB150-05E8-4B8A-BA6B-3C935DD4D3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258D1F-63FA-4869-A786-85CF05F64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08CBF-67A1-49B4-AF28-BABC69C341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793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21CA1DC-F86E-4894-A15D-0CEE6085916A}"/>
              </a:ext>
            </a:extLst>
          </p:cNvPr>
          <p:cNvCxnSpPr>
            <a:cxnSpLocks/>
          </p:cNvCxnSpPr>
          <p:nvPr/>
        </p:nvCxnSpPr>
        <p:spPr>
          <a:xfrm>
            <a:off x="1495470" y="1728694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F87FA4-E2ED-40E1-9007-87B65445E373}"/>
              </a:ext>
            </a:extLst>
          </p:cNvPr>
          <p:cNvSpPr/>
          <p:nvPr/>
        </p:nvSpPr>
        <p:spPr>
          <a:xfrm>
            <a:off x="3520633" y="1411390"/>
            <a:ext cx="5104435" cy="636607"/>
          </a:xfrm>
          <a:prstGeom prst="roundRect">
            <a:avLst>
              <a:gd name="adj" fmla="val 50000"/>
            </a:avLst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2026-1</a:t>
            </a:r>
            <a:r>
              <a:rPr lang="ko-KR" altLang="en-US" dirty="0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dirty="0" err="1">
                <a:solidFill>
                  <a:schemeClr val="bg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DataMining</a:t>
            </a:r>
            <a:endParaRPr lang="ko-KR" altLang="en-US" dirty="0">
              <a:solidFill>
                <a:schemeClr val="bg1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837554-332A-44AC-B111-3FEE5B90982D}"/>
              </a:ext>
            </a:extLst>
          </p:cNvPr>
          <p:cNvSpPr txBox="1"/>
          <p:nvPr/>
        </p:nvSpPr>
        <p:spPr>
          <a:xfrm>
            <a:off x="4142285" y="5277333"/>
            <a:ext cx="41992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산업공학과 </a:t>
            </a:r>
            <a:r>
              <a:rPr lang="ko-KR" altLang="en-US" sz="1600" dirty="0" err="1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조시훈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, </a:t>
            </a:r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산업공학과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 </a:t>
            </a:r>
            <a:r>
              <a:rPr lang="ko-KR" altLang="en-US" sz="1600" dirty="0" err="1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권성안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, </a:t>
            </a:r>
          </a:p>
          <a:p>
            <a:pPr algn="ctr"/>
            <a:r>
              <a:rPr lang="ko-KR" altLang="en-US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산업공학과 </a:t>
            </a:r>
            <a:r>
              <a:rPr lang="en-US" altLang="ko-KR" sz="16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LE</a:t>
            </a:r>
            <a:endParaRPr lang="ko-KR" altLang="en-US" sz="16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C8DFD-4794-46C8-AD55-E3331A6AA96B}"/>
              </a:ext>
            </a:extLst>
          </p:cNvPr>
          <p:cNvSpPr txBox="1"/>
          <p:nvPr/>
        </p:nvSpPr>
        <p:spPr>
          <a:xfrm>
            <a:off x="3025813" y="2527976"/>
            <a:ext cx="609407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400" dirty="0" err="1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데이터마이닝</a:t>
            </a:r>
            <a:r>
              <a:rPr lang="ko-KR" altLang="en-US" sz="44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중간발표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6807CC-6E9C-4C52-A163-572F216F2859}"/>
              </a:ext>
            </a:extLst>
          </p:cNvPr>
          <p:cNvSpPr txBox="1"/>
          <p:nvPr/>
        </p:nvSpPr>
        <p:spPr>
          <a:xfrm>
            <a:off x="2489037" y="3429000"/>
            <a:ext cx="7167623" cy="898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0" i="0" dirty="0">
                <a:solidFill>
                  <a:schemeClr val="bg2">
                    <a:lumMod val="50000"/>
                  </a:schemeClr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01. Data Collection &amp; Management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02. Viewer-Chat Mismatch EDA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03. Modeling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F994DB5-EF82-4CC8-AF1F-BADF1CB5BA0A}"/>
              </a:ext>
            </a:extLst>
          </p:cNvPr>
          <p:cNvCxnSpPr>
            <a:cxnSpLocks/>
          </p:cNvCxnSpPr>
          <p:nvPr/>
        </p:nvCxnSpPr>
        <p:spPr>
          <a:xfrm>
            <a:off x="1495470" y="4702399"/>
            <a:ext cx="9201060" cy="0"/>
          </a:xfrm>
          <a:prstGeom prst="line">
            <a:avLst/>
          </a:prstGeom>
          <a:ln w="3175"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이등변 삼각형 1">
            <a:extLst>
              <a:ext uri="{FF2B5EF4-FFF2-40B4-BE49-F238E27FC236}">
                <a16:creationId xmlns:a16="http://schemas.microsoft.com/office/drawing/2014/main" id="{539C8FE8-BA5B-4C12-BAC6-C3EEC0E69C2D}"/>
              </a:ext>
            </a:extLst>
          </p:cNvPr>
          <p:cNvSpPr/>
          <p:nvPr/>
        </p:nvSpPr>
        <p:spPr>
          <a:xfrm rot="10800000">
            <a:off x="5991220" y="4827350"/>
            <a:ext cx="209550" cy="171450"/>
          </a:xfrm>
          <a:prstGeom prst="triangle">
            <a:avLst/>
          </a:prstGeom>
          <a:solidFill>
            <a:srgbClr val="1533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97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2">
            <a:extLst>
              <a:ext uri="{FF2B5EF4-FFF2-40B4-BE49-F238E27FC236}">
                <a16:creationId xmlns:a16="http://schemas.microsoft.com/office/drawing/2014/main" id="{4AD89931-D40B-424E-804A-9B73105DA281}"/>
              </a:ext>
            </a:extLst>
          </p:cNvPr>
          <p:cNvSpPr txBox="1"/>
          <p:nvPr/>
        </p:nvSpPr>
        <p:spPr>
          <a:xfrm>
            <a:off x="829007" y="1162722"/>
            <a:ext cx="1833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CONTENTS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8D8F70-673E-4244-829F-FA09D7C6051A}"/>
              </a:ext>
            </a:extLst>
          </p:cNvPr>
          <p:cNvSpPr txBox="1"/>
          <p:nvPr/>
        </p:nvSpPr>
        <p:spPr>
          <a:xfrm>
            <a:off x="829007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73E25856-0C67-4B26-89CF-AD23E06A951D}"/>
              </a:ext>
            </a:extLst>
          </p:cNvPr>
          <p:cNvCxnSpPr>
            <a:cxnSpLocks/>
          </p:cNvCxnSpPr>
          <p:nvPr/>
        </p:nvCxnSpPr>
        <p:spPr>
          <a:xfrm>
            <a:off x="909729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EBF5097-349F-4521-B3EB-7E1DFF02AE3B}"/>
              </a:ext>
            </a:extLst>
          </p:cNvPr>
          <p:cNvSpPr txBox="1"/>
          <p:nvPr/>
        </p:nvSpPr>
        <p:spPr>
          <a:xfrm>
            <a:off x="1446883" y="2330759"/>
            <a:ext cx="30710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Data Collection &amp; Management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5AC35E7-42BA-499D-8FEE-D2B4CFD634D4}"/>
              </a:ext>
            </a:extLst>
          </p:cNvPr>
          <p:cNvSpPr txBox="1"/>
          <p:nvPr/>
        </p:nvSpPr>
        <p:spPr>
          <a:xfrm>
            <a:off x="1377346" y="2973507"/>
            <a:ext cx="3236871" cy="1152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표본 설계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: Top 100 Pool -&gt; Random 15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실시간 수집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: Viewer Snapshot + </a:t>
            </a:r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Websocket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Chat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관리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: Raw Data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저장과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Feature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생성</a:t>
            </a: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2A4382-2954-409E-AC6A-EEC0E5A9A65D}"/>
              </a:ext>
            </a:extLst>
          </p:cNvPr>
          <p:cNvSpPr txBox="1"/>
          <p:nvPr/>
        </p:nvSpPr>
        <p:spPr>
          <a:xfrm>
            <a:off x="4437203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846A9C7B-8ED9-4AB0-A396-36B4BD4A0B5B}"/>
              </a:ext>
            </a:extLst>
          </p:cNvPr>
          <p:cNvCxnSpPr>
            <a:cxnSpLocks/>
          </p:cNvCxnSpPr>
          <p:nvPr/>
        </p:nvCxnSpPr>
        <p:spPr>
          <a:xfrm>
            <a:off x="4517925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E7E0F80-1FE4-4838-8AF2-BD577A12F83F}"/>
              </a:ext>
            </a:extLst>
          </p:cNvPr>
          <p:cNvSpPr txBox="1"/>
          <p:nvPr/>
        </p:nvSpPr>
        <p:spPr>
          <a:xfrm>
            <a:off x="5055079" y="2330759"/>
            <a:ext cx="2878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Viewer-Chat Mismatch EDA</a:t>
            </a:r>
            <a:endParaRPr lang="ko-KR" altLang="en-US" sz="16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227C382-9A6A-472D-9EE1-B04A8D9A4194}"/>
              </a:ext>
            </a:extLst>
          </p:cNvPr>
          <p:cNvSpPr txBox="1"/>
          <p:nvPr/>
        </p:nvSpPr>
        <p:spPr>
          <a:xfrm>
            <a:off x="4985543" y="2973507"/>
            <a:ext cx="2769253" cy="2260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</a:t>
            </a:r>
            <a:r>
              <a:rPr lang="ko-KR" altLang="en-US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결측치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초기처리</a:t>
            </a: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품질과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chat QC Bucket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Distribution and Time Structure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Viewer-Chat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관계와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Time-lag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반응</a:t>
            </a: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Clustering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CA9D6ED-FFF6-4D71-9592-53B93143B652}"/>
              </a:ext>
            </a:extLst>
          </p:cNvPr>
          <p:cNvSpPr txBox="1"/>
          <p:nvPr/>
        </p:nvSpPr>
        <p:spPr>
          <a:xfrm>
            <a:off x="8045399" y="2265485"/>
            <a:ext cx="729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</a:t>
            </a:r>
            <a:r>
              <a:rPr lang="en-US" altLang="ko-KR" sz="1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4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</a:t>
            </a:r>
            <a:endParaRPr lang="ko-KR" altLang="en-US" sz="24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807B45B-D2A2-474F-A26B-D14E7916CFDB}"/>
              </a:ext>
            </a:extLst>
          </p:cNvPr>
          <p:cNvCxnSpPr>
            <a:cxnSpLocks/>
          </p:cNvCxnSpPr>
          <p:nvPr/>
        </p:nvCxnSpPr>
        <p:spPr>
          <a:xfrm>
            <a:off x="8126121" y="2804160"/>
            <a:ext cx="3236871" cy="0"/>
          </a:xfrm>
          <a:prstGeom prst="line">
            <a:avLst/>
          </a:prstGeom>
          <a:ln>
            <a:solidFill>
              <a:srgbClr val="153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D69A4346-42F2-40A4-8B18-2E9315ACF16E}"/>
              </a:ext>
            </a:extLst>
          </p:cNvPr>
          <p:cNvSpPr txBox="1"/>
          <p:nvPr/>
        </p:nvSpPr>
        <p:spPr>
          <a:xfrm>
            <a:off x="8775244" y="2330759"/>
            <a:ext cx="24062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서평원 꺾깎체 TTF" panose="020B0600000101010101" pitchFamily="50" charset="-127"/>
                <a:ea typeface="서평원 꺾깎체 TTF" panose="020B0600000101010101" pitchFamily="50" charset="-127"/>
              </a:rPr>
              <a:t>Modeling</a:t>
            </a:r>
            <a:endParaRPr lang="ko-KR" altLang="en-US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서평원 꺾깎체 TTF" panose="020B0600000101010101" pitchFamily="50" charset="-127"/>
              <a:ea typeface="서평원 꺾깎체 TTF" panose="020B0600000101010101" pitchFamily="50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EF05C79-C76D-4937-AE56-FEBC411C624E}"/>
              </a:ext>
            </a:extLst>
          </p:cNvPr>
          <p:cNvSpPr txBox="1"/>
          <p:nvPr/>
        </p:nvSpPr>
        <p:spPr>
          <a:xfrm>
            <a:off x="8593739" y="2973507"/>
            <a:ext cx="2769253" cy="1521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Isolation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Forest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Decision Tree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Naïve Bayes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Classifying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423768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7AD3-9486-DD06-F99D-E38D6BBA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143DF79-7F51-041C-F7A0-0D7EABC44B1B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C9EEDA8-0109-6AC0-3A1D-CC79FB45AFA2}"/>
              </a:ext>
            </a:extLst>
          </p:cNvPr>
          <p:cNvSpPr txBox="1"/>
          <p:nvPr/>
        </p:nvSpPr>
        <p:spPr>
          <a:xfrm>
            <a:off x="4595304" y="1964424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PART. 01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B05028-DA28-5E75-48FF-C454C2F142CC}"/>
              </a:ext>
            </a:extLst>
          </p:cNvPr>
          <p:cNvSpPr txBox="1"/>
          <p:nvPr/>
        </p:nvSpPr>
        <p:spPr>
          <a:xfrm>
            <a:off x="3723266" y="3052950"/>
            <a:ext cx="4745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Data Collection and Management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90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A80B-BB6D-05DA-A3B3-430E525C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CD30376-C334-6AD7-AFA5-7237A8A9F0A5}"/>
              </a:ext>
            </a:extLst>
          </p:cNvPr>
          <p:cNvSpPr/>
          <p:nvPr/>
        </p:nvSpPr>
        <p:spPr>
          <a:xfrm>
            <a:off x="347918" y="1555218"/>
            <a:ext cx="7582224" cy="4745452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4B2DA48-9261-0EAA-2367-AF02D8DB4047}"/>
              </a:ext>
            </a:extLst>
          </p:cNvPr>
          <p:cNvGrpSpPr/>
          <p:nvPr/>
        </p:nvGrpSpPr>
        <p:grpSpPr>
          <a:xfrm>
            <a:off x="8214360" y="1555218"/>
            <a:ext cx="3715238" cy="2292882"/>
            <a:chOff x="292734" y="428956"/>
            <a:chExt cx="4405270" cy="2292882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EFAB99F5-1A4D-9861-1E17-07C3DF93B279}"/>
                </a:ext>
              </a:extLst>
            </p:cNvPr>
            <p:cNvSpPr/>
            <p:nvPr/>
          </p:nvSpPr>
          <p:spPr>
            <a:xfrm>
              <a:off x="292734" y="428956"/>
              <a:ext cx="4405270" cy="2292882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552D13-0C27-DE3E-DB66-3F3651986CBD}"/>
                </a:ext>
              </a:extLst>
            </p:cNvPr>
            <p:cNvSpPr txBox="1"/>
            <p:nvPr/>
          </p:nvSpPr>
          <p:spPr>
            <a:xfrm>
              <a:off x="381159" y="428956"/>
              <a:ext cx="4228421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매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window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마다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CHZZK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현재 라이브 목록의 상위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100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방송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pool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만들고 그 중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채널을 무작위 선택해 수집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target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갱신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build_pool.py: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CHZZK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/open/v1/lives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 현재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live pool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-&gt; 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기준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top100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구성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random.sample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Top 100 pool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Random 15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선택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-&gt; top15_targets.csv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저장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setup.py: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기존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active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target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비활성화 후 새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targe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만 활성화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cron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17-19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20-22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23-01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KST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시간 자동 실행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E2AB2D-B694-62A3-AED5-8D433659544E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C7AF05-FE24-4263-44AB-47416952EDCE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37E84E-6201-B2B5-C49B-C79F2D957C4A}"/>
              </a:ext>
            </a:extLst>
          </p:cNvPr>
          <p:cNvSpPr txBox="1"/>
          <p:nvPr/>
        </p:nvSpPr>
        <p:spPr>
          <a:xfrm>
            <a:off x="431484" y="484070"/>
            <a:ext cx="6406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1.1. Sampling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Design: Top 100 Pool -&gt; Random 15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4D912-260E-468F-E918-1CDB104477DF}"/>
              </a:ext>
            </a:extLst>
          </p:cNvPr>
          <p:cNvSpPr txBox="1"/>
          <p:nvPr/>
        </p:nvSpPr>
        <p:spPr>
          <a:xfrm>
            <a:off x="431484" y="862064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매 수집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window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마다 상위 라이브 풀을 다시 만들고 그중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15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개 채널을 무작위 추출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9547F5-AAAA-61C7-ECED-C556C99CA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88" y="1741521"/>
            <a:ext cx="7268252" cy="4267268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3F279F1-DE25-8ABF-CEA1-8EEDD0C9EF7B}"/>
              </a:ext>
            </a:extLst>
          </p:cNvPr>
          <p:cNvGrpSpPr/>
          <p:nvPr/>
        </p:nvGrpSpPr>
        <p:grpSpPr>
          <a:xfrm>
            <a:off x="8203418" y="4016478"/>
            <a:ext cx="3715238" cy="2292882"/>
            <a:chOff x="292734" y="428956"/>
            <a:chExt cx="4405270" cy="229288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F875AA2-FC27-3E6C-6E88-B7D7941C724E}"/>
                </a:ext>
              </a:extLst>
            </p:cNvPr>
            <p:cNvSpPr/>
            <p:nvPr/>
          </p:nvSpPr>
          <p:spPr>
            <a:xfrm>
              <a:off x="292734" y="428956"/>
              <a:ext cx="4405270" cy="2292882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F025FC-A2CD-4B21-DA2B-FDE67EC5737D}"/>
                </a:ext>
              </a:extLst>
            </p:cNvPr>
            <p:cNvSpPr txBox="1"/>
            <p:nvPr/>
          </p:nvSpPr>
          <p:spPr>
            <a:xfrm>
              <a:off x="381159" y="559734"/>
              <a:ext cx="4228421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 대상을 고정하지 않고 현재 라이브 방송 중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 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 기준 상위 약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100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개를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pool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만들고 그 안에서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개를 무작위로 뽑는다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</a:p>
            <a:p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그 후 기존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active target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모두 끄고 새로 뽑힌 </a:t>
              </a:r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15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개만 활성화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따라서 매 </a:t>
              </a:r>
              <a:r>
                <a:rPr lang="en-US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window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마다 다른 방송이 들어올 수 있고 </a:t>
              </a:r>
              <a:endPara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고정 </a:t>
              </a:r>
              <a:r>
                <a:rPr lang="ko-KR" altLang="en-US" sz="14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스트리머만</a:t>
              </a:r>
              <a:r>
                <a:rPr lang="ko-KR" altLang="en-US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반복 수집하는 편향을 줄이도록 설계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8501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DF736-3C36-7604-53FB-9FE16230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7357C27-2DB3-58AD-3D67-083F991FAEAA}"/>
              </a:ext>
            </a:extLst>
          </p:cNvPr>
          <p:cNvSpPr/>
          <p:nvPr/>
        </p:nvSpPr>
        <p:spPr>
          <a:xfrm>
            <a:off x="6877754" y="1637835"/>
            <a:ext cx="5159917" cy="3165659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E25EAE5-2517-9A77-A643-63C47FB95E35}"/>
              </a:ext>
            </a:extLst>
          </p:cNvPr>
          <p:cNvSpPr/>
          <p:nvPr/>
        </p:nvSpPr>
        <p:spPr>
          <a:xfrm>
            <a:off x="519388" y="1637834"/>
            <a:ext cx="6200856" cy="4976325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92DC09-BCB5-E0E3-4FD9-D11CB5B68077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85162F-F29B-2849-45E3-8C3D67628529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BEEE2E-D841-0B1F-05CF-5FD1CF0D47F5}"/>
              </a:ext>
            </a:extLst>
          </p:cNvPr>
          <p:cNvSpPr txBox="1"/>
          <p:nvPr/>
        </p:nvSpPr>
        <p:spPr>
          <a:xfrm>
            <a:off x="431484" y="484070"/>
            <a:ext cx="6853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1.2.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실시간 수집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 Viewer Snapshot &amp; </a:t>
            </a:r>
            <a:r>
              <a:rPr lang="en-US" altLang="ko-KR" sz="2000" dirty="0" err="1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Websocket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Chat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3037E-379D-4905-4470-6238F7E05CE7}"/>
              </a:ext>
            </a:extLst>
          </p:cNvPr>
          <p:cNvSpPr txBox="1"/>
          <p:nvPr/>
        </p:nvSpPr>
        <p:spPr>
          <a:xfrm>
            <a:off x="431484" y="862064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하나의 </a:t>
            </a:r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run_id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안에서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viewer snapshot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WebSocket chat event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를 동시에 수집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A09339-40A1-0FE8-C482-D20A93F7B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50" y="1830864"/>
            <a:ext cx="6003332" cy="3378669"/>
          </a:xfrm>
          <a:prstGeom prst="rect">
            <a:avLst/>
          </a:prstGeom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A60DFEEE-FA85-8B24-610E-2CCCD2658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50" y="5276150"/>
            <a:ext cx="506901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Run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control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CrawlManager가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run_id를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생성하고 2시간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collection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window를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관리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stream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active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target의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live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상태를 조회해 60초마다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snapshot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저장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stream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각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broad_no별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WebSocket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collector가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/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donation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event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수집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Buffering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event는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3초 또는 200건 기준으로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batch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insert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8975120-F630-75F9-3376-D23A2757D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933" y="1830864"/>
            <a:ext cx="4897558" cy="2756341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B4F7D2E-2AE0-530B-273D-DB5198022F3A}"/>
              </a:ext>
            </a:extLst>
          </p:cNvPr>
          <p:cNvSpPr/>
          <p:nvPr/>
        </p:nvSpPr>
        <p:spPr>
          <a:xfrm>
            <a:off x="6877753" y="4892250"/>
            <a:ext cx="5159917" cy="1721909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8EE19337-88D5-ADF3-A6CE-0DA656046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570396"/>
              </p:ext>
            </p:extLst>
          </p:nvPr>
        </p:nvGraphicFramePr>
        <p:xfrm>
          <a:off x="7008933" y="4983043"/>
          <a:ext cx="4897558" cy="130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622">
                  <a:extLst>
                    <a:ext uri="{9D8B030D-6E8A-4147-A177-3AD203B41FA5}">
                      <a16:colId xmlns:a16="http://schemas.microsoft.com/office/drawing/2014/main" val="726301238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1582632141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2502074230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1647825640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3293661482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1932166894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455113713"/>
                    </a:ext>
                  </a:extLst>
                </a:gridCol>
                <a:gridCol w="636848">
                  <a:extLst>
                    <a:ext uri="{9D8B030D-6E8A-4147-A177-3AD203B41FA5}">
                      <a16:colId xmlns:a16="http://schemas.microsoft.com/office/drawing/2014/main" val="4196413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역할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수집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window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실행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수집 제어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/</a:t>
                      </a:r>
                      <a:r>
                        <a:rPr lang="en-US" altLang="ko-KR" sz="1050" dirty="0" err="1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run_id</a:t>
                      </a: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수집 주기 설정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Viewer live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WebSocket chat </a:t>
                      </a:r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수집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buffer/ batch insert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저장 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테이블 </a:t>
                      </a:r>
                      <a:endParaRPr lang="en-US" altLang="ko-KR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구조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43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코드 파일명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run_</a:t>
                      </a:r>
                    </a:p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pilot.py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manager.py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settings.py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live_discovery.py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chat_</a:t>
                      </a:r>
                    </a:p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wss.py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base.py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models.</a:t>
                      </a:r>
                    </a:p>
                    <a:p>
                      <a:pPr latinLnBrk="1"/>
                      <a:r>
                        <a:rPr lang="en-US" altLang="ko-KR" sz="1050" dirty="0" err="1">
                          <a:solidFill>
                            <a:sysClr val="windowText" lastClr="000000"/>
                          </a:solidFill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py</a:t>
                      </a:r>
                      <a:endParaRPr lang="ko-KR" altLang="en-US" sz="1050" dirty="0">
                        <a:solidFill>
                          <a:sysClr val="windowText" lastClr="000000"/>
                        </a:solidFill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78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40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7543-94F5-8A3A-30C2-D7DCB83C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97DB73D-3C9F-7CC6-F8A9-F7369A415FF9}"/>
              </a:ext>
            </a:extLst>
          </p:cNvPr>
          <p:cNvSpPr/>
          <p:nvPr/>
        </p:nvSpPr>
        <p:spPr>
          <a:xfrm>
            <a:off x="7345680" y="1487363"/>
            <a:ext cx="4445952" cy="3096212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D624DB8-8DCD-2DEB-B66C-B35B983BC626}"/>
              </a:ext>
            </a:extLst>
          </p:cNvPr>
          <p:cNvGrpSpPr/>
          <p:nvPr/>
        </p:nvGrpSpPr>
        <p:grpSpPr>
          <a:xfrm>
            <a:off x="519388" y="1487363"/>
            <a:ext cx="6494869" cy="5121782"/>
            <a:chOff x="573813" y="-76044"/>
            <a:chExt cx="8268461" cy="5121782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F339A03-70C9-82F3-BD80-BD03C062E682}"/>
                </a:ext>
              </a:extLst>
            </p:cNvPr>
            <p:cNvSpPr/>
            <p:nvPr/>
          </p:nvSpPr>
          <p:spPr>
            <a:xfrm>
              <a:off x="573813" y="-76044"/>
              <a:ext cx="8268461" cy="5121782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FDFACF0-3508-E469-3F1A-68D2773CD1AE}"/>
                </a:ext>
              </a:extLst>
            </p:cNvPr>
            <p:cNvSpPr txBox="1"/>
            <p:nvPr/>
          </p:nvSpPr>
          <p:spPr>
            <a:xfrm>
              <a:off x="701837" y="3807230"/>
              <a:ext cx="478150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Raw table -&gt; Minute feature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live_snapshots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와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chat_message_raw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를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raw_table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보존하고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event_ts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와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snapshot_ts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를 분 단위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맞추고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broad_no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minute_ts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기준으로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minute_feature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를 생성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4E20F161-2A79-588C-0BF9-05814A8105BB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23C0A68-224D-0D51-C111-327A7A9AB852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DE9624-8D54-C798-A520-F88421009C4C}"/>
              </a:ext>
            </a:extLst>
          </p:cNvPr>
          <p:cNvSpPr txBox="1"/>
          <p:nvPr/>
        </p:nvSpPr>
        <p:spPr>
          <a:xfrm>
            <a:off x="431484" y="484070"/>
            <a:ext cx="6914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1.3.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 관리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 Raw Data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저장과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Minute Feature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생성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828AA-ED67-A554-7397-94055405C3B6}"/>
              </a:ext>
            </a:extLst>
          </p:cNvPr>
          <p:cNvSpPr txBox="1"/>
          <p:nvPr/>
        </p:nvSpPr>
        <p:spPr>
          <a:xfrm>
            <a:off x="431484" y="862064"/>
            <a:ext cx="5980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Raw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snapshot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과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raw chat event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를 보존한 뒤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 </a:t>
            </a:r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broad_no+minute_ts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기준으로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1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 단위 분석 테이블을 생성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C607C0-A3D8-4E24-F9E0-CBF441294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51" y="1686942"/>
            <a:ext cx="6293741" cy="3542111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9798C09-27B8-C57E-873D-C8E05689A550}"/>
              </a:ext>
            </a:extLst>
          </p:cNvPr>
          <p:cNvSpPr/>
          <p:nvPr/>
        </p:nvSpPr>
        <p:spPr>
          <a:xfrm>
            <a:off x="7345680" y="4687289"/>
            <a:ext cx="4445952" cy="1921856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Stream alignment</a:t>
            </a:r>
            <a:b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chat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 없는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minute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chat_count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= 0,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unique_chatters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= 0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보존</a:t>
            </a: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viewer snapshot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60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초 단위이므로 같은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안에서 최대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분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forward-fill</a:t>
            </a:r>
            <a:b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viewer_count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 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이하이면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chat_per_viewer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= 0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처리</a:t>
            </a: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400" b="1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Run validation</a:t>
            </a:r>
            <a:b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verify_run.py: snapshots / chats / features row count 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확인</a:t>
            </a:r>
            <a:b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export_csv.py: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minute_features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와 </a:t>
            </a:r>
            <a:r>
              <a:rPr lang="en-US" altLang="ko-KR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raw chat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을 </a:t>
            </a:r>
            <a:r>
              <a:rPr lang="en-US" altLang="ko-KR" sz="1200" dirty="0" err="1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CSV·Excel</a:t>
            </a:r>
            <a:r>
              <a:rPr lang="ko-KR" altLang="en-US" sz="1200" dirty="0">
                <a:solidFill>
                  <a:schemeClr val="tx1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로 반출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042AD1-0EBC-83D0-073E-B33837C28B4E}"/>
              </a:ext>
            </a:extLst>
          </p:cNvPr>
          <p:cNvSpPr txBox="1"/>
          <p:nvPr/>
        </p:nvSpPr>
        <p:spPr>
          <a:xfrm>
            <a:off x="7465671" y="1686942"/>
            <a:ext cx="444595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1.  Timestamp alignment</a:t>
            </a:r>
            <a:endParaRPr lang="en-US" altLang="ko-KR" sz="12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event_ts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-&gt;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snapshot_ts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-&gt;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342900" indent="-342900">
              <a:buAutoNum type="arabicPeriod" startAt="2"/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aggregation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+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기준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groupby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chat_count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unique_chatters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avg_msg_len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생성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342900" indent="-342900">
              <a:buAutoNum type="arabicPeriod" startAt="3"/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aggregation</a:t>
            </a:r>
          </a:p>
          <a:p>
            <a:pPr marL="285750" indent="-285750">
              <a:buFontTx/>
              <a:buChar char="-"/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같은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안의 마지막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viewer_cnt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를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viewer_count_last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사용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342900" indent="-342900">
              <a:buAutoNum type="arabicPeriod" startAt="4"/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Merge &amp; feature generation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snapshot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집계를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broad_no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+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minute_ts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기준으로 결합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chat_per_viewer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delta_viewer_1m, delta_chat_1m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150362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487351E-E9E3-4CA5-9F9A-68211728F757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3F4E395-D679-4EF5-A6D3-80FA4BB274C5}"/>
              </a:ext>
            </a:extLst>
          </p:cNvPr>
          <p:cNvSpPr txBox="1"/>
          <p:nvPr/>
        </p:nvSpPr>
        <p:spPr>
          <a:xfrm>
            <a:off x="4595304" y="1964424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PART. 02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1DE91-787C-4781-8148-FFF50B50A33D}"/>
              </a:ext>
            </a:extLst>
          </p:cNvPr>
          <p:cNvSpPr txBox="1"/>
          <p:nvPr/>
        </p:nvSpPr>
        <p:spPr>
          <a:xfrm>
            <a:off x="4134167" y="3052950"/>
            <a:ext cx="3923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Viewer Chat mismatch EDA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783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9D52-8535-DE52-003E-6BCE0DB3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521D40E6-C8AF-F521-3765-0974C90286CE}"/>
              </a:ext>
            </a:extLst>
          </p:cNvPr>
          <p:cNvGrpSpPr/>
          <p:nvPr/>
        </p:nvGrpSpPr>
        <p:grpSpPr>
          <a:xfrm>
            <a:off x="8093392" y="1637835"/>
            <a:ext cx="3698240" cy="2537926"/>
            <a:chOff x="469583" y="74428"/>
            <a:chExt cx="4385116" cy="2537926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115615E-6230-C8ED-E8F0-A16CF0BB2741}"/>
                </a:ext>
              </a:extLst>
            </p:cNvPr>
            <p:cNvSpPr/>
            <p:nvPr/>
          </p:nvSpPr>
          <p:spPr>
            <a:xfrm>
              <a:off x="469583" y="74428"/>
              <a:ext cx="4385116" cy="2537926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FF8579E-3995-7BC1-46BA-8BCF239DC6A0}"/>
                </a:ext>
              </a:extLst>
            </p:cNvPr>
            <p:cNvSpPr txBox="1"/>
            <p:nvPr/>
          </p:nvSpPr>
          <p:spPr>
            <a:xfrm>
              <a:off x="536034" y="1261580"/>
              <a:ext cx="4228421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용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본 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묶음 전체에 대해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일반적인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viewer-chat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행동관계 분석을 왜곡할 수 있기 때문에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상에서는 이를 배제하고 진행하고 모델링과정에서는 따로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QC_bucket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만들어두어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배제하지 않고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진행하려했다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  <a:endPara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05296F4-DC42-83D9-A04D-14B5507C586D}"/>
              </a:ext>
            </a:extLst>
          </p:cNvPr>
          <p:cNvGrpSpPr/>
          <p:nvPr/>
        </p:nvGrpSpPr>
        <p:grpSpPr>
          <a:xfrm>
            <a:off x="3891914" y="1637835"/>
            <a:ext cx="4079607" cy="4976324"/>
            <a:chOff x="30241" y="74428"/>
            <a:chExt cx="4837315" cy="4976324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903ACFB9-CF5D-D304-89CF-509519E44BAF}"/>
                </a:ext>
              </a:extLst>
            </p:cNvPr>
            <p:cNvSpPr/>
            <p:nvPr/>
          </p:nvSpPr>
          <p:spPr>
            <a:xfrm>
              <a:off x="30241" y="74428"/>
              <a:ext cx="4824457" cy="4976324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81DE73-60BB-C6FB-0E26-8A307A65F674}"/>
                </a:ext>
              </a:extLst>
            </p:cNvPr>
            <p:cNvSpPr txBox="1"/>
            <p:nvPr/>
          </p:nvSpPr>
          <p:spPr>
            <a:xfrm>
              <a:off x="43099" y="3716927"/>
              <a:ext cx="4824457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Missing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Value</a:t>
              </a: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명시적인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결측치는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해당 분이 종료될 때 측정된 시청자수인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4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개의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row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였다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이는 전체 데이터의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0.02%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해당되는 양으로 매우 적어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선형보간을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통해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채워넣었다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Avg_msg_len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으로 인한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결측이라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판단하고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경우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avg_msg_len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으로 지정해 넣어줬더니 우측과 같이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결측이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사라졌다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82DBB8B-A793-6DF9-BBBD-52B3177D4AAD}"/>
              </a:ext>
            </a:extLst>
          </p:cNvPr>
          <p:cNvGrpSpPr/>
          <p:nvPr/>
        </p:nvGrpSpPr>
        <p:grpSpPr>
          <a:xfrm>
            <a:off x="431484" y="1637834"/>
            <a:ext cx="3676092" cy="4976325"/>
            <a:chOff x="469583" y="74427"/>
            <a:chExt cx="4358854" cy="4976325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BD11BF0B-B5C0-A2AB-2491-68708A5C0C8B}"/>
                </a:ext>
              </a:extLst>
            </p:cNvPr>
            <p:cNvSpPr/>
            <p:nvPr/>
          </p:nvSpPr>
          <p:spPr>
            <a:xfrm>
              <a:off x="469583" y="74427"/>
              <a:ext cx="3945774" cy="4976325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7AF2B66-5F4F-B6FB-C01B-1F960EDA1AA1}"/>
                </a:ext>
              </a:extLst>
            </p:cNvPr>
            <p:cNvSpPr txBox="1"/>
            <p:nvPr/>
          </p:nvSpPr>
          <p:spPr>
            <a:xfrm>
              <a:off x="600016" y="3720529"/>
              <a:ext cx="4228421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Data Reading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초기 데이터는 총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개의 파일로 구성되어 있었다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초기에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설계상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7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일간 매일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(17~19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), (20~22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), (23~01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수집하기로 했기에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EC2 server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불안정성 등의 원인으로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잘못된 시간에 수집된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29,30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번 파일은 배제했다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A04757-58D2-4E07-591B-D577C7901CE4}"/>
              </a:ext>
            </a:extLst>
          </p:cNvPr>
          <p:cNvSpPr/>
          <p:nvPr/>
        </p:nvSpPr>
        <p:spPr>
          <a:xfrm>
            <a:off x="519388" y="1229456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1DEFEE-BE60-95C1-1134-4E0797AAB6FF}"/>
              </a:ext>
            </a:extLst>
          </p:cNvPr>
          <p:cNvSpPr/>
          <p:nvPr/>
        </p:nvSpPr>
        <p:spPr>
          <a:xfrm>
            <a:off x="961285" y="1229456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699BB6-F428-CCD9-69E7-DAFA8C537B9C}"/>
              </a:ext>
            </a:extLst>
          </p:cNvPr>
          <p:cNvSpPr txBox="1"/>
          <p:nvPr/>
        </p:nvSpPr>
        <p:spPr>
          <a:xfrm>
            <a:off x="431484" y="484070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2.0.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ko-KR" altLang="en-US" sz="2000" dirty="0" err="1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결측치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초기 처리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2DBEC9B-ABFE-BA16-827B-0495A5D4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86" y="2179255"/>
            <a:ext cx="2384929" cy="3023862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8681892-0DD1-D58E-DC82-3E274D99C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576" y="1814657"/>
            <a:ext cx="1490711" cy="338846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62302D1-1A94-DE40-B3B4-B55256695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86" y="1818620"/>
            <a:ext cx="2375329" cy="27981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606174A-D1C3-C4A1-4DBA-EF6027ED1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543" y="1814657"/>
            <a:ext cx="2728196" cy="9144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E3B297A-D6B5-54BC-FD38-4E7DFC7BB5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818620"/>
            <a:ext cx="1494801" cy="2662229"/>
          </a:xfrm>
          <a:prstGeom prst="rect">
            <a:avLst/>
          </a:prstGeom>
        </p:spPr>
      </p:pic>
      <p:pic>
        <p:nvPicPr>
          <p:cNvPr id="3074" name="Picture 2" descr="AIFFEL FD #09 탐색적 데이터 분석 EDA">
            <a:extLst>
              <a:ext uri="{FF2B5EF4-FFF2-40B4-BE49-F238E27FC236}">
                <a16:creationId xmlns:a16="http://schemas.microsoft.com/office/drawing/2014/main" id="{B3BA2A55-E8D6-ECBB-A2E3-383A6D5A8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5667" y="5980361"/>
            <a:ext cx="531079" cy="531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Bubble Plots with Excel">
            <a:extLst>
              <a:ext uri="{FF2B5EF4-FFF2-40B4-BE49-F238E27FC236}">
                <a16:creationId xmlns:a16="http://schemas.microsoft.com/office/drawing/2014/main" id="{4E0AEBE6-9A0A-42BC-25E2-7C15F47BC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514" y="4274579"/>
            <a:ext cx="1593966" cy="11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istogram in Data Science - GeeksforGeeks">
            <a:extLst>
              <a:ext uri="{FF2B5EF4-FFF2-40B4-BE49-F238E27FC236}">
                <a16:creationId xmlns:a16="http://schemas.microsoft.com/office/drawing/2014/main" id="{B3036070-AF2C-21FE-0A7F-BE77FE4F2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0986" y="4227526"/>
            <a:ext cx="1929530" cy="177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catter Plot - Definition, Uses, Examples, Challenges">
            <a:extLst>
              <a:ext uri="{FF2B5EF4-FFF2-40B4-BE49-F238E27FC236}">
                <a16:creationId xmlns:a16="http://schemas.microsoft.com/office/drawing/2014/main" id="{3F902AE7-2A76-3CFF-04EF-1325BCD81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391" y="5568872"/>
            <a:ext cx="1604006" cy="982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224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5B3289E-E9D3-A3F9-707F-A094ACC22B51}"/>
              </a:ext>
            </a:extLst>
          </p:cNvPr>
          <p:cNvSpPr/>
          <p:nvPr/>
        </p:nvSpPr>
        <p:spPr>
          <a:xfrm>
            <a:off x="5771221" y="3711138"/>
            <a:ext cx="6095657" cy="2793834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C5A03F-CABC-B8FC-497D-181EB40560A0}"/>
              </a:ext>
            </a:extLst>
          </p:cNvPr>
          <p:cNvSpPr/>
          <p:nvPr/>
        </p:nvSpPr>
        <p:spPr>
          <a:xfrm>
            <a:off x="5771222" y="1697801"/>
            <a:ext cx="6095657" cy="1807400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355F284-21A7-8AAC-C338-77353B91DD70}"/>
              </a:ext>
            </a:extLst>
          </p:cNvPr>
          <p:cNvGrpSpPr/>
          <p:nvPr/>
        </p:nvGrpSpPr>
        <p:grpSpPr>
          <a:xfrm>
            <a:off x="766763" y="1697800"/>
            <a:ext cx="4385116" cy="4809574"/>
            <a:chOff x="469583" y="74428"/>
            <a:chExt cx="4385116" cy="480957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2CE3C012-A690-0740-6C26-3059E32B98B8}"/>
                </a:ext>
              </a:extLst>
            </p:cNvPr>
            <p:cNvSpPr/>
            <p:nvPr/>
          </p:nvSpPr>
          <p:spPr>
            <a:xfrm>
              <a:off x="469583" y="74428"/>
              <a:ext cx="4385116" cy="4809574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56A5EF-E7B6-B6FA-7C27-E21A80EAE030}"/>
                </a:ext>
              </a:extLst>
            </p:cNvPr>
            <p:cNvSpPr txBox="1"/>
            <p:nvPr/>
          </p:nvSpPr>
          <p:spPr>
            <a:xfrm>
              <a:off x="600561" y="2127779"/>
              <a:ext cx="4228421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Definition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broad_no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즉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한 수집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window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관측된 하나의 실제 방송을 분석 단위로 둔다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</a:p>
            <a:p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Why not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user_id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?</a:t>
              </a:r>
            </a:p>
            <a:p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User_id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+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는 한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스트리머가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한 수집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window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들어온 기록이다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하지만 표에서 볼 수 있다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싶이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같은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방송을 재시작한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4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발견되었기 때문에 실제 방송 단위인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run_id+broad_no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수행했다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0-chat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Handling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전체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0-chat 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EDA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에서는 제외했지만 삭제하지는 않았다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WebSocket </a:t>
              </a:r>
              <a:r>
                <a:rPr lang="ko-KR" altLang="en-US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미수집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가능성 또는 극단적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viewer-chat mismatch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후보일 수 있으므로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QC-Bucket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으로 보존했다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  <a:endPara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9EDADE-9F00-4720-BD3A-2A2F25DDB804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41F892-C84F-4AE3-8C11-21250464651C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8498E-7EC1-4BA7-B493-E8B662B0E7C8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오랜 기간 지속된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0chat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을 이상치라고 볼 수 있는가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?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3F80D3-82BE-4E2D-B713-49AC1A1E58B3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2.1.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 품질과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0-Chat QC-Bucket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DFE335-E4A6-9671-EC49-2F64F1863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74114"/>
              </p:ext>
            </p:extLst>
          </p:nvPr>
        </p:nvGraphicFramePr>
        <p:xfrm>
          <a:off x="897741" y="1943647"/>
          <a:ext cx="4140137" cy="16687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80045">
                  <a:extLst>
                    <a:ext uri="{9D8B030D-6E8A-4147-A177-3AD203B41FA5}">
                      <a16:colId xmlns:a16="http://schemas.microsoft.com/office/drawing/2014/main" val="1476749930"/>
                    </a:ext>
                  </a:extLst>
                </a:gridCol>
                <a:gridCol w="479259">
                  <a:extLst>
                    <a:ext uri="{9D8B030D-6E8A-4147-A177-3AD203B41FA5}">
                      <a16:colId xmlns:a16="http://schemas.microsoft.com/office/drawing/2014/main" val="2671930443"/>
                    </a:ext>
                  </a:extLst>
                </a:gridCol>
                <a:gridCol w="2280833">
                  <a:extLst>
                    <a:ext uri="{9D8B030D-6E8A-4147-A177-3AD203B41FA5}">
                      <a16:colId xmlns:a16="http://schemas.microsoft.com/office/drawing/2014/main" val="3280768089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item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value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note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2192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broadcast session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184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</a:t>
                      </a: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포함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9144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session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행동분석 제외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, QC bucket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보존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26892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minutes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659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QC bucket rows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53623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행동분석 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176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전체 </a:t>
                      </a: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0-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chat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제외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26354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10</a:t>
                      </a:r>
                      <a:r>
                        <a:rPr lang="ko-KR" alt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분 이상 </a:t>
                      </a: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173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clustering/anomaly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분석 기준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12029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user_id+run_id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중 </a:t>
                      </a:r>
                      <a:endParaRPr lang="en-US" altLang="ko-KR" sz="1100" b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복수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broad_no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최종 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EDA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는 </a:t>
                      </a:r>
                      <a:r>
                        <a:rPr lang="en-US" sz="1100" b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run_id+broad_no</a:t>
                      </a:r>
                      <a:r>
                        <a:rPr 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 </a:t>
                      </a:r>
                      <a:r>
                        <a:rPr lang="ko-KR" altLang="en-US" sz="1100" b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기준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34443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8B600C5-F60F-F897-755C-3749D86779BB}"/>
              </a:ext>
            </a:extLst>
          </p:cNvPr>
          <p:cNvSpPr txBox="1"/>
          <p:nvPr/>
        </p:nvSpPr>
        <p:spPr>
          <a:xfrm>
            <a:off x="9459276" y="1811508"/>
            <a:ext cx="233140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 plot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행동분석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 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안에서 짧은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0-chat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구간은 흔하지만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드물다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decile plot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특정 시청자 구간에서 일반적으로 많이 발생하기보다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일부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session-level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특성으로 따로 관리해야 함을 시사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07F93C59-48A6-4AC1-FD83-CEB0AAC73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1953835"/>
            <a:ext cx="3402141" cy="134656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070BD50-1468-5F10-0DB3-3C52F6124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3947282"/>
            <a:ext cx="3752802" cy="1324677"/>
          </a:xfrm>
          <a:prstGeom prst="rect">
            <a:avLst/>
          </a:prstGeom>
        </p:spPr>
      </p:pic>
      <p:sp>
        <p:nvSpPr>
          <p:cNvPr id="24" name="Rectangle 1">
            <a:extLst>
              <a:ext uri="{FF2B5EF4-FFF2-40B4-BE49-F238E27FC236}">
                <a16:creationId xmlns:a16="http://schemas.microsoft.com/office/drawing/2014/main" id="{5B605B80-F53E-2D1B-3EE6-1307013F1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0936" y="5320811"/>
            <a:ext cx="55067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A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ll-zero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ession을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제외한 뒤에도 대부분의 방송 세션은 거의 모든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minute에서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chat이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관측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됨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일부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boxplot의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왼쪽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outlier들</a:t>
            </a:r>
            <a:r>
              <a:rPr kumimoji="0" lang="ko-KR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은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non-zero</a:t>
            </a:r>
            <a:r>
              <a: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비율이 낮다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이들은 완전 0-chat은 아니지만, 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긴 침묵 구간이나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sparse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chat이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존재할 수 있다.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그래서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ll-zero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ession은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QC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bucket으로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분리하고, 남은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behavior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set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안에서는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length와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zero-chat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rate를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추가 </a:t>
            </a:r>
            <a:r>
              <a:rPr kumimoji="0" lang="ko-KR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feature로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본다. </a:t>
            </a:r>
          </a:p>
        </p:txBody>
      </p:sp>
    </p:spTree>
    <p:extLst>
      <p:ext uri="{BB962C8B-B14F-4D97-AF65-F5344CB8AC3E}">
        <p14:creationId xmlns:p14="http://schemas.microsoft.com/office/powerpoint/2010/main" val="2113811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2240-C6CA-EF52-7767-2CAF2CA3D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BDF0D8B-AC08-5EF5-73E8-27B1BFAE204D}"/>
              </a:ext>
            </a:extLst>
          </p:cNvPr>
          <p:cNvSpPr/>
          <p:nvPr/>
        </p:nvSpPr>
        <p:spPr>
          <a:xfrm>
            <a:off x="5771221" y="3827316"/>
            <a:ext cx="6095657" cy="2677656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AD321B5-0EC8-5FFB-1427-7A9B23ACEF04}"/>
              </a:ext>
            </a:extLst>
          </p:cNvPr>
          <p:cNvSpPr/>
          <p:nvPr/>
        </p:nvSpPr>
        <p:spPr>
          <a:xfrm>
            <a:off x="5771222" y="1697801"/>
            <a:ext cx="6095657" cy="1957498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0549850-7F37-A364-2BDA-DD6C002794D3}"/>
              </a:ext>
            </a:extLst>
          </p:cNvPr>
          <p:cNvGrpSpPr/>
          <p:nvPr/>
        </p:nvGrpSpPr>
        <p:grpSpPr>
          <a:xfrm>
            <a:off x="766763" y="1697800"/>
            <a:ext cx="4385116" cy="4809574"/>
            <a:chOff x="469583" y="74428"/>
            <a:chExt cx="4385116" cy="480957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56018B5-F972-77F9-1BC5-0C9DEE552C96}"/>
                </a:ext>
              </a:extLst>
            </p:cNvPr>
            <p:cNvSpPr/>
            <p:nvPr/>
          </p:nvSpPr>
          <p:spPr>
            <a:xfrm>
              <a:off x="469583" y="74428"/>
              <a:ext cx="4385116" cy="4809574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C9F472-B1EC-06B4-83BE-66BB2632FD5D}"/>
                </a:ext>
              </a:extLst>
            </p:cNvPr>
            <p:cNvSpPr txBox="1"/>
            <p:nvPr/>
          </p:nvSpPr>
          <p:spPr>
            <a:xfrm>
              <a:off x="579381" y="1414535"/>
              <a:ext cx="422842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How to read this table?</a:t>
              </a:r>
            </a:p>
            <a:p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</a:t>
              </a:r>
              <a:r>
                <a:rPr lang="ko-KR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broadcast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안에서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viewer_count_last의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중앙값을 먼저 계산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그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값들의 중앙값을 표시한 값.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mean</a:t>
              </a:r>
              <a:r>
                <a:rPr lang="ko-KR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_per_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안에서 1분당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chat_count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평균을 계산, 그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값들의 중앙값을 표시한 값.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ko-KR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</a:t>
              </a:r>
              <a:r>
                <a:rPr lang="ko-KR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gap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minute별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log1p(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 - log1p(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)을 계산,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내부 중앙값을 구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하고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그 </a:t>
              </a:r>
              <a:r>
                <a:rPr lang="ko-KR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</a:t>
              </a:r>
              <a: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값들의 중앙값을 표시한 값. 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zero_chat_rate</a:t>
              </a:r>
              <a:br>
                <a:rPr lang="ko-KR" altLang="ko-KR" sz="14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chat_count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= 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인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minute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비율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중앙값이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이라는 것은 대부분의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0-chat minute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 없다는 뜻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E50A08-D830-CF4D-EA57-6924B3F899B2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2DC1B7-2FF3-12E1-98F8-D4204B4CF77F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04624D-EFD9-EFB3-C645-8438B0979BFC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Heavy tail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분포와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session trajectory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BFDFBD-5EA6-ECEE-50C9-4B8A99252E72}"/>
              </a:ext>
            </a:extLst>
          </p:cNvPr>
          <p:cNvSpPr txBox="1"/>
          <p:nvPr/>
        </p:nvSpPr>
        <p:spPr>
          <a:xfrm>
            <a:off x="678859" y="564298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2.2. Distribution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&amp;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Time Structure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633B3-75C8-85B0-B7DD-95DF65122855}"/>
              </a:ext>
            </a:extLst>
          </p:cNvPr>
          <p:cNvSpPr txBox="1"/>
          <p:nvPr/>
        </p:nvSpPr>
        <p:spPr>
          <a:xfrm>
            <a:off x="8923908" y="1769053"/>
            <a:ext cx="285899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viewer-chat gap histogram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대부분의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row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gap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2~5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근처에 몰려 있지만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오른쪽 꼬리가 있어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대비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약한 구간이 존재한다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 length histogram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0-chat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구간은 대부분 짧지만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일부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에서는 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zero-run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나타남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단순히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chat=0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여부보다 연속 지속시간을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보는 것이 필요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120E9CF0-B5E1-0C20-CBD4-E34E7D4BD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3328" y="3932884"/>
            <a:ext cx="247926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각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line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minute_idx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 media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이고 </a:t>
            </a:r>
            <a:r>
              <a:rPr lang="ko-KR" altLang="en-US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음영처리된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구간은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IQR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아래 회색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bar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해당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minute_idx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까지 남아있는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surviving session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iewer, chat, unique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전체적으로 큰 급변 없이 유지되지만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IQR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넓어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간 차이가 크다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후반부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viewer_chat_log_gap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급등은 이상현상이 아니라 남아 있는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수가 줄어듦에 따라 발생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했을 수 있기에 단정하지 않는다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D069C9-D4B3-423D-5A7B-317BEC85A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1769053"/>
            <a:ext cx="2858997" cy="16599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F7E163-972B-F6A3-3E1C-2311A0B01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36" y="3905299"/>
            <a:ext cx="3131292" cy="2509799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5BEE1E6-6B06-AC76-C807-39A4B5635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052686"/>
              </p:ext>
            </p:extLst>
          </p:nvPr>
        </p:nvGraphicFramePr>
        <p:xfrm>
          <a:off x="960751" y="1907783"/>
          <a:ext cx="3626361" cy="1104900"/>
        </p:xfrm>
        <a:graphic>
          <a:graphicData uri="http://schemas.openxmlformats.org/drawingml/2006/table">
            <a:tbl>
              <a:tblPr/>
              <a:tblGrid>
                <a:gridCol w="1325388">
                  <a:extLst>
                    <a:ext uri="{9D8B030D-6E8A-4147-A177-3AD203B41FA5}">
                      <a16:colId xmlns:a16="http://schemas.microsoft.com/office/drawing/2014/main" val="3011636815"/>
                    </a:ext>
                  </a:extLst>
                </a:gridCol>
                <a:gridCol w="766991">
                  <a:extLst>
                    <a:ext uri="{9D8B030D-6E8A-4147-A177-3AD203B41FA5}">
                      <a16:colId xmlns:a16="http://schemas.microsoft.com/office/drawing/2014/main" val="4283556975"/>
                    </a:ext>
                  </a:extLst>
                </a:gridCol>
                <a:gridCol w="766991">
                  <a:extLst>
                    <a:ext uri="{9D8B030D-6E8A-4147-A177-3AD203B41FA5}">
                      <a16:colId xmlns:a16="http://schemas.microsoft.com/office/drawing/2014/main" val="39254549"/>
                    </a:ext>
                  </a:extLst>
                </a:gridCol>
                <a:gridCol w="766991">
                  <a:extLst>
                    <a:ext uri="{9D8B030D-6E8A-4147-A177-3AD203B41FA5}">
                      <a16:colId xmlns:a16="http://schemas.microsoft.com/office/drawing/2014/main" val="3688618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metric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0205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median_viewer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76558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mean_chat_per_min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30.890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12.267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64.273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14870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median_gap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96387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zero_chat_rate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246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343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82ACF-CEAC-B747-8DD6-2BA28961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8CF87CA-4917-5BA3-BB62-258FC0B9AE9C}"/>
              </a:ext>
            </a:extLst>
          </p:cNvPr>
          <p:cNvSpPr/>
          <p:nvPr/>
        </p:nvSpPr>
        <p:spPr>
          <a:xfrm>
            <a:off x="5334000" y="4071797"/>
            <a:ext cx="6532879" cy="2433175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C5108EE-18D5-0210-4908-04B35E134DF3}"/>
              </a:ext>
            </a:extLst>
          </p:cNvPr>
          <p:cNvSpPr/>
          <p:nvPr/>
        </p:nvSpPr>
        <p:spPr>
          <a:xfrm>
            <a:off x="5334000" y="1697800"/>
            <a:ext cx="6614160" cy="2235083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9424F98-080F-614C-ACE9-DDC0A8E2CBD3}"/>
              </a:ext>
            </a:extLst>
          </p:cNvPr>
          <p:cNvGrpSpPr/>
          <p:nvPr/>
        </p:nvGrpSpPr>
        <p:grpSpPr>
          <a:xfrm>
            <a:off x="766763" y="1697800"/>
            <a:ext cx="4385116" cy="4809574"/>
            <a:chOff x="469583" y="74428"/>
            <a:chExt cx="4385116" cy="480957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DDC47D5D-EDF2-90C7-27A3-5E0BEE06CB7E}"/>
                </a:ext>
              </a:extLst>
            </p:cNvPr>
            <p:cNvSpPr/>
            <p:nvPr/>
          </p:nvSpPr>
          <p:spPr>
            <a:xfrm>
              <a:off x="469583" y="74428"/>
              <a:ext cx="4385116" cy="4809574"/>
            </a:xfrm>
            <a:prstGeom prst="roundRect">
              <a:avLst>
                <a:gd name="adj" fmla="val 6009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962424-E0EE-878E-F6C2-55D4E9DAF994}"/>
                </a:ext>
              </a:extLst>
            </p:cNvPr>
            <p:cNvSpPr txBox="1"/>
            <p:nvPr/>
          </p:nvSpPr>
          <p:spPr>
            <a:xfrm>
              <a:off x="518208" y="2019278"/>
              <a:ext cx="4336491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viewer_log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vs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chat_log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(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Hexbin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)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규모 관계와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 level coupling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한 번에 비교하게 해준다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큰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일수록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도 많아지는 경향을 보인다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즉 방송 규모 차원에서는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과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사이에 양의 상관관계를 띔을 알 수 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delta viewer vs delta chat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점들이 원점 주위에 밀집해 있다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이는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분 사이 증가했다고 해서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도 같은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 같이 증가한다고 보기 어려움을 의미한다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Level Relation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은 존재하지만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Dynamic Response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는 약하다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!</a:t>
              </a: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400" b="1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Viewer–chat mismatch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는 단순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delta correlation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보다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session-level gap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과 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zero-chat persistence</a:t>
              </a:r>
              <a:r>
                <a:rPr lang="ko-KR" altLang="en-US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로 보는 것이 적절</a:t>
              </a:r>
              <a:r>
                <a:rPr lang="en-US" altLang="ko-KR" sz="1400" b="1" dirty="0">
                  <a:solidFill>
                    <a:srgbClr val="FF0000"/>
                  </a:solidFill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!</a:t>
              </a: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618AB-25D8-C03D-7B52-97B310B0E0B3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004DFD-7B8C-FF75-DF34-738D9C5C6E46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B5F7A-367E-A7E0-1CD9-A07F7CADC72B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Scale level correlation vs minute-level response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347F3C-06B3-A40D-AA97-44206EC3C501}"/>
              </a:ext>
            </a:extLst>
          </p:cNvPr>
          <p:cNvSpPr txBox="1"/>
          <p:nvPr/>
        </p:nvSpPr>
        <p:spPr>
          <a:xfrm>
            <a:off x="678859" y="564298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2.3. Viewer-Chat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Coupling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&amp;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Time Lag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789738-71F8-F2C7-F6C3-DB2479D9B0F8}"/>
              </a:ext>
            </a:extLst>
          </p:cNvPr>
          <p:cNvSpPr txBox="1"/>
          <p:nvPr/>
        </p:nvSpPr>
        <p:spPr>
          <a:xfrm>
            <a:off x="8655453" y="1778447"/>
            <a:ext cx="317104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Time-lag response check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viewer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변화가 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발생한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minute 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를 기준으로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변화와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unique chatter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변화가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t+0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부터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t+10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까지 따라오는지를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spearman correlation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계산한 것이다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-&gt;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모든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lag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correlation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매우 작다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전체적으로 값이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-0.02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0.015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근처에 머물고 특정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lag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일관되게 높아지는 패턴도 없다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즉시 반응도 약하고 </a:t>
            </a:r>
            <a:r>
              <a:rPr lang="en-US" altLang="ko-KR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0~10</a:t>
            </a:r>
            <a:r>
              <a:rPr lang="ko-KR" altLang="en-US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분 지연 반응도 약하다</a:t>
            </a:r>
            <a:r>
              <a:rPr lang="en-US" altLang="ko-KR" sz="1400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!</a:t>
            </a:r>
            <a:endParaRPr lang="ko-KR" altLang="en-US" sz="1400" dirty="0">
              <a:solidFill>
                <a:srgbClr val="FF0000"/>
              </a:solidFill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87D38E3E-B142-0291-85C1-0394EEF0C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688" y="5288384"/>
            <a:ext cx="628479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iewer_log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와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unique_log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모두 양의 상관을 띈다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방송 규모가 커질수록 채팅 수와 고유 </a:t>
            </a:r>
            <a:r>
              <a:rPr lang="ko-KR" altLang="en-US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채팅자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수도 함께 증가함을 의미한다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Viewer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사이의 규모 수준 관계는 존재한다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kumimoji="0" lang="en-US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delta_viewer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delta_chat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가깝다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viewe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 동안 변화하더라도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같은 방향으로 선형적으로 반응한다고 보기는 어렵다는 의미이다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hat_log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 vs </a:t>
            </a:r>
            <a:r>
              <a:rPr kumimoji="0" lang="en-US" altLang="ko-KR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viewer_chat_log_gap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은 음의 상관이 크다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의 정의에 의해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 적을수록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gap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이 커지는 것은 자연스럽다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 Viewer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대비 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chat </a:t>
            </a:r>
            <a:r>
              <a:rPr kumimoji="0" lang="ko-KR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반응이 약한 구간을 잡기 위한 보조지표로 연산해 두었다</a:t>
            </a:r>
            <a:r>
              <a:rPr kumimoji="0" lang="en-US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096A20-095C-CA1A-EE06-14B8F5222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10" y="1836714"/>
            <a:ext cx="4228421" cy="17482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7C3692-D1EA-A157-14BA-6590EBA10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688" y="1836714"/>
            <a:ext cx="3130077" cy="1658133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A1E2732-2238-D0F6-F6E1-26FEEB8FA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25336"/>
              </p:ext>
            </p:extLst>
          </p:nvPr>
        </p:nvGraphicFramePr>
        <p:xfrm>
          <a:off x="5429688" y="4183484"/>
          <a:ext cx="3764410" cy="1104900"/>
        </p:xfrm>
        <a:graphic>
          <a:graphicData uri="http://schemas.openxmlformats.org/drawingml/2006/table">
            <a:tbl>
              <a:tblPr/>
              <a:tblGrid>
                <a:gridCol w="2225040">
                  <a:extLst>
                    <a:ext uri="{9D8B030D-6E8A-4147-A177-3AD203B41FA5}">
                      <a16:colId xmlns:a16="http://schemas.microsoft.com/office/drawing/2014/main" val="2757380975"/>
                    </a:ext>
                  </a:extLst>
                </a:gridCol>
                <a:gridCol w="769685">
                  <a:extLst>
                    <a:ext uri="{9D8B030D-6E8A-4147-A177-3AD203B41FA5}">
                      <a16:colId xmlns:a16="http://schemas.microsoft.com/office/drawing/2014/main" val="607832334"/>
                    </a:ext>
                  </a:extLst>
                </a:gridCol>
                <a:gridCol w="769685">
                  <a:extLst>
                    <a:ext uri="{9D8B030D-6E8A-4147-A177-3AD203B41FA5}">
                      <a16:colId xmlns:a16="http://schemas.microsoft.com/office/drawing/2014/main" val="3072251056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pair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pearson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spearman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59453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viewer_log vs chat_log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45287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viewer_log vs unique_log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58960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v-SE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delta_viewer_1m vs delta_chat_1m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-0.018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4098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chat_log vs viewer_chat_log_gap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-0.683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-0.643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7772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84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39F6-C3A7-211F-5DA0-89372BDC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28A62F-6DD7-215E-1FC6-35817CD76DD1}"/>
              </a:ext>
            </a:extLst>
          </p:cNvPr>
          <p:cNvSpPr/>
          <p:nvPr/>
        </p:nvSpPr>
        <p:spPr>
          <a:xfrm>
            <a:off x="5132579" y="1339140"/>
            <a:ext cx="6358698" cy="4877410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9DE7551-5E63-58A5-1B69-B4F9C8645ADE}"/>
              </a:ext>
            </a:extLst>
          </p:cNvPr>
          <p:cNvSpPr/>
          <p:nvPr/>
        </p:nvSpPr>
        <p:spPr>
          <a:xfrm>
            <a:off x="533084" y="1339140"/>
            <a:ext cx="4159506" cy="4877410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73DF488-AB54-BFFA-7E04-C686847A5931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934396-1DF9-300F-6B7D-C049E9764445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E07A5-A1E6-711B-623F-0E6B62260EFE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Kmeans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Clustering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37E5CC-C518-61E3-3D0D-CFA7D8300D20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2.4. Clustering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4A8834AF-80C2-2713-58F1-99F73AAAE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03" y="1633254"/>
            <a:ext cx="3991866" cy="2075367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8E5296F5-5ACE-43BC-66CC-9865C1021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128" y="1614298"/>
            <a:ext cx="5298438" cy="337590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816EC82-769D-01FD-F2FB-0E83CA74D0EC}"/>
              </a:ext>
            </a:extLst>
          </p:cNvPr>
          <p:cNvSpPr txBox="1"/>
          <p:nvPr/>
        </p:nvSpPr>
        <p:spPr>
          <a:xfrm>
            <a:off x="604203" y="3828574"/>
            <a:ext cx="3991866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적절한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 선정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값이 증가할 수록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silhouette score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감소한다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따라서 가장 높은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score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0.887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주는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개로 분류하는 것이 적절하다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의미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클러스터링 된 결과를 보면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다른 데이터 대비 비정상적으로 높은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median-gap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가진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개의 세션이 다른 군집으로 분류되어 있다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따라서 이를 세부 군집이 아니라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active vs silent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split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해석했다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즉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1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분류된 군집 자체가 어느 정도 높은 확률로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chat-bot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 세션으로 분류할 수도 있을 것이다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0686C1A6-6C40-CCA7-14FA-A79D35AE375D}"/>
              </a:ext>
            </a:extLst>
          </p:cNvPr>
          <p:cNvGraphicFramePr>
            <a:graphicFrameLocks noGrp="1"/>
          </p:cNvGraphicFramePr>
          <p:nvPr/>
        </p:nvGraphicFramePr>
        <p:xfrm>
          <a:off x="5529705" y="5410896"/>
          <a:ext cx="5564445" cy="723900"/>
        </p:xfrm>
        <a:graphic>
          <a:graphicData uri="http://schemas.openxmlformats.org/drawingml/2006/table">
            <a:tbl>
              <a:tblPr/>
              <a:tblGrid>
                <a:gridCol w="588589">
                  <a:extLst>
                    <a:ext uri="{9D8B030D-6E8A-4147-A177-3AD203B41FA5}">
                      <a16:colId xmlns:a16="http://schemas.microsoft.com/office/drawing/2014/main" val="3095490671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437493993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48568381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1594181926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1582219191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917290957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391253117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2592886978"/>
                    </a:ext>
                  </a:extLst>
                </a:gridCol>
                <a:gridCol w="621982">
                  <a:extLst>
                    <a:ext uri="{9D8B030D-6E8A-4147-A177-3AD203B41FA5}">
                      <a16:colId xmlns:a16="http://schemas.microsoft.com/office/drawing/2014/main" val="4084415087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session_type_cluster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n_sessions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median_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viewer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mean_chat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per_min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mean_unique_per_min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zero_chat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median_gap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max_zero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run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session_type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나눔바른펜" panose="020B0503000000000000" pitchFamily="50" charset="-127"/>
                        <a:ea typeface="나눔바른펜" panose="020B0503000000000000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031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0.838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0.542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0.742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5.192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sparse/silent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1069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165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658.5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53.996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28.821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0.024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3.269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바른펜" panose="020B0503000000000000" pitchFamily="50" charset="-127"/>
                          <a:ea typeface="나눔바른펜" panose="020B0503000000000000" pitchFamily="50" charset="-127"/>
                        </a:rPr>
                        <a:t>normal/active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14163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36A9AE3-2BE7-DD14-AD96-23B4BD3F4741}"/>
              </a:ext>
            </a:extLst>
          </p:cNvPr>
          <p:cNvSpPr txBox="1"/>
          <p:nvPr/>
        </p:nvSpPr>
        <p:spPr>
          <a:xfrm>
            <a:off x="9073447" y="3348939"/>
            <a:ext cx="2326957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Kmeans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Clustering plotting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색상은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6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개의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수행한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Kmeans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cluster label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X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축과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y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축은 해석을 위한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2D projection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선택한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아래 테이블과 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같으며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clusterin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결과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session_type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silent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분류된 것이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active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분류된 것이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165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8265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7AD3-9486-DD06-F99D-E38D6BBA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143DF79-7F51-041C-F7A0-0D7EABC44B1B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C9EEDA8-0109-6AC0-3A1D-CC79FB45AFA2}"/>
              </a:ext>
            </a:extLst>
          </p:cNvPr>
          <p:cNvSpPr txBox="1"/>
          <p:nvPr/>
        </p:nvSpPr>
        <p:spPr>
          <a:xfrm>
            <a:off x="4595304" y="1964424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PART. 03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B05028-DA28-5E75-48FF-C454C2F142CC}"/>
              </a:ext>
            </a:extLst>
          </p:cNvPr>
          <p:cNvSpPr txBox="1"/>
          <p:nvPr/>
        </p:nvSpPr>
        <p:spPr>
          <a:xfrm>
            <a:off x="3723266" y="3052950"/>
            <a:ext cx="4745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Baseline Models</a:t>
            </a:r>
            <a:endParaRPr lang="ko-KR" altLang="en-US" sz="2000" dirty="0">
              <a:solidFill>
                <a:srgbClr val="22523B"/>
              </a:solidFill>
              <a:latin typeface="카페24 써라운드" pitchFamily="2" charset="-127"/>
              <a:ea typeface="카페24 써라운드" pitchFamily="2" charset="-127"/>
              <a:cs typeface="카페24 써라운드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4801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598F-A260-7C84-96ED-293966C5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8B51A7B-C327-A33F-BE04-57271DB1B8EA}"/>
              </a:ext>
            </a:extLst>
          </p:cNvPr>
          <p:cNvSpPr/>
          <p:nvPr/>
        </p:nvSpPr>
        <p:spPr>
          <a:xfrm>
            <a:off x="533083" y="2802066"/>
            <a:ext cx="4874734" cy="365969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0440B76-1BDC-9BF5-98B5-04962F89164E}"/>
              </a:ext>
            </a:extLst>
          </p:cNvPr>
          <p:cNvSpPr/>
          <p:nvPr/>
        </p:nvSpPr>
        <p:spPr>
          <a:xfrm>
            <a:off x="533083" y="1239024"/>
            <a:ext cx="4874734" cy="1382257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DF2B33-F81E-1149-DB66-BDF2F8CFC813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6D6F74-0CA6-51E4-AB27-482E48B57B3A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D44BE-4549-CC61-0444-D4C88123C489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Isolation forest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기반 고립 세션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flagging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8077E0-64BF-C158-7408-84DD6A1BC922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3.1. Isolation forest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기반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3243A6E-51CF-274C-E8A9-9DBC187C959F}"/>
              </a:ext>
            </a:extLst>
          </p:cNvPr>
          <p:cNvGrpSpPr/>
          <p:nvPr/>
        </p:nvGrpSpPr>
        <p:grpSpPr>
          <a:xfrm>
            <a:off x="5632003" y="1239023"/>
            <a:ext cx="6026914" cy="2566623"/>
            <a:chOff x="469583" y="74429"/>
            <a:chExt cx="4636933" cy="4708853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269C8C25-2FE3-3C2E-F6B9-4554C6D70E13}"/>
                </a:ext>
              </a:extLst>
            </p:cNvPr>
            <p:cNvSpPr/>
            <p:nvPr/>
          </p:nvSpPr>
          <p:spPr>
            <a:xfrm>
              <a:off x="469583" y="74429"/>
              <a:ext cx="4636933" cy="4708853"/>
            </a:xfrm>
            <a:prstGeom prst="roundRect">
              <a:avLst>
                <a:gd name="adj" fmla="val 6009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EE4711-0C20-C2E9-208D-B52BAAABAC03}"/>
                </a:ext>
              </a:extLst>
            </p:cNvPr>
            <p:cNvSpPr txBox="1"/>
            <p:nvPr/>
          </p:nvSpPr>
          <p:spPr>
            <a:xfrm>
              <a:off x="533560" y="198577"/>
              <a:ext cx="4572956" cy="2305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10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분 이상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broadcast session 173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개중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25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개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review candidate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시각화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X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축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median_viewer</a:t>
              </a:r>
              <a:br>
                <a:rPr lang="ko-KR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broadcast 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viewer_count_last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중앙값으로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log scale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이다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Y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축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median_gap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2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  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각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viewer,chat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log gap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계산한 뒤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중앙값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색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zero_chat_rate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    해당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sesson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안에서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chat_count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= 0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인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minute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비율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점 크기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max_gap</a:t>
              </a:r>
              <a:endPara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  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Session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안에서 가장 컸던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viewer_chat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gap</a:t>
              </a: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빨간 테두리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IsolationForest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가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feature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상으로 고립되게 분류한 세션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라벨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: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IsolationForest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score 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상위 세션</a:t>
              </a:r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pPr marL="171450" lvl="0" indent="-171450" eaLnBrk="0" fontAlgn="base" latinLnBrk="0" hangingPunct="0">
                <a:spcBef>
                  <a:spcPct val="0"/>
                </a:spcBef>
                <a:spcAft>
                  <a:spcPct val="0"/>
                </a:spcAft>
                <a:buFontTx/>
                <a:buChar char="-"/>
              </a:pP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C836FB06-D7BA-4B60-9E7B-57F7C07A4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69" y="3255669"/>
            <a:ext cx="4426362" cy="316397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1E80C96-F07E-8926-3C89-F520D7F47DA9}"/>
              </a:ext>
            </a:extLst>
          </p:cNvPr>
          <p:cNvSpPr txBox="1"/>
          <p:nvPr/>
        </p:nvSpPr>
        <p:spPr>
          <a:xfrm>
            <a:off x="604202" y="1393682"/>
            <a:ext cx="47341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Why Isolation Forest First?</a:t>
            </a:r>
          </a:p>
          <a:p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iForest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기본 모델로 채택하기에 상당히 복잡하다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하지만 근본 자체가 이상치 탐색 모델로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다른 데이터들과 이질적인 데이터들을 뽑아내는 모델이다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View-Bot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쓰는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Streaming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수가 소수일 것이라 판단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Isolation Forest Model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이를 식별할 수 있을 것이라 판단했다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A4FFB9-3134-51BB-4C1C-6CB6BAB1C5EC}"/>
              </a:ext>
            </a:extLst>
          </p:cNvPr>
          <p:cNvSpPr txBox="1"/>
          <p:nvPr/>
        </p:nvSpPr>
        <p:spPr>
          <a:xfrm>
            <a:off x="604202" y="2905780"/>
            <a:ext cx="4734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 진행 결과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A4FF8E-39F6-87E3-C4CA-FFE001637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735" y="3889771"/>
            <a:ext cx="5503996" cy="25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34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7337-B7C8-1070-9704-AD2FAE96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4302E15-58EE-07A2-4E0D-9DDC321C6FE6}"/>
              </a:ext>
            </a:extLst>
          </p:cNvPr>
          <p:cNvSpPr/>
          <p:nvPr/>
        </p:nvSpPr>
        <p:spPr>
          <a:xfrm>
            <a:off x="5632002" y="4846392"/>
            <a:ext cx="6026914" cy="1723550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4E71D8A-B725-1878-70BA-CF5FC343956E}"/>
              </a:ext>
            </a:extLst>
          </p:cNvPr>
          <p:cNvSpPr/>
          <p:nvPr/>
        </p:nvSpPr>
        <p:spPr>
          <a:xfrm>
            <a:off x="604203" y="1239023"/>
            <a:ext cx="4805270" cy="3332977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D3B203-BD10-2078-3570-52E5FF638D28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3E39B0-940E-9835-BED3-EB893AE167E8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FF8A3-6165-EAA0-2F64-4814C140545D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Isolation forest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기반 고립 세션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flagging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A9D03D-1F12-65DA-A0E3-CE295786DC61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3.1. Isolation forest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기반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A3DD8DF-73C9-A0F3-C50B-369EA301A81A}"/>
              </a:ext>
            </a:extLst>
          </p:cNvPr>
          <p:cNvSpPr/>
          <p:nvPr/>
        </p:nvSpPr>
        <p:spPr>
          <a:xfrm>
            <a:off x="5632003" y="1239023"/>
            <a:ext cx="6026914" cy="3365938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B80FDB4-30C5-6445-ABDC-1F2DE186A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89" y="1692626"/>
            <a:ext cx="4327086" cy="26883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DF8FE51-9B79-BF7A-3A68-1F99D070F5C9}"/>
              </a:ext>
            </a:extLst>
          </p:cNvPr>
          <p:cNvSpPr txBox="1"/>
          <p:nvPr/>
        </p:nvSpPr>
        <p:spPr>
          <a:xfrm>
            <a:off x="675322" y="1342737"/>
            <a:ext cx="4734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 진행 결과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6F776-A4E4-0291-E174-F0852E7A596A}"/>
              </a:ext>
            </a:extLst>
          </p:cNvPr>
          <p:cNvSpPr txBox="1"/>
          <p:nvPr/>
        </p:nvSpPr>
        <p:spPr>
          <a:xfrm>
            <a:off x="5673580" y="1342737"/>
            <a:ext cx="594375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결과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View-Bot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의심이 타당한 데이터들이 다수 포함되어 있음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특히 많은 데이터들이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median-gap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수치가 높음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이는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</a:t>
            </a:r>
            <a:r>
              <a:rPr lang="ko-KR" altLang="en-US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사용중이라면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시청자 수가 채팅 수보다 월등히 높을 것이라는 상식적 판단과 일치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solidFill>
                  <a:schemeClr val="tx2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600" b="1" dirty="0">
                <a:solidFill>
                  <a:schemeClr val="tx2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더 나아가 </a:t>
            </a:r>
            <a:r>
              <a:rPr lang="en-US" altLang="ko-KR" sz="1600" b="1" dirty="0">
                <a:solidFill>
                  <a:schemeClr val="tx2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600" b="1" dirty="0">
                <a:solidFill>
                  <a:schemeClr val="tx2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 의심 사용 스트리밍이 다양한 차원에서 일반적인 스트리밍과 구분됨을 뒷받침하기도 함</a:t>
            </a:r>
            <a:r>
              <a:rPr lang="en-US" altLang="ko-KR" sz="1600" b="1" dirty="0">
                <a:solidFill>
                  <a:schemeClr val="tx2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단순히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median-gap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수치만 차이가 있었다면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2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anomal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판단되기에는 부족할 것임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Anomaly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판별되었다는 것은 다른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역시 일반적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steaming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들과 차이를 보인다는 의미로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다양한 차원에서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Normal Streaming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차이점을 가진다는 것을 내포함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실제로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진행된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SHAP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분석 결과를 보면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median-gap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수치 뿐만 아니라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zero_chat_rate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등 다양한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역시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anomaly detection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적극적으로 사용된 것을 볼 수 있음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간단한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Logistic Regression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넘어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Neural Network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이나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AutoEncoder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등의 복잡한 신경망 모델을 바탕으로 학습을 진행할 필요성을 역설함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수학적 표현력이 뛰어난 모델은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Steaming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보이는 미묘한 차이를 잡아낼 수 있을 것이다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DBE2E87-22E4-1789-679A-9410F048E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204" y="4711789"/>
            <a:ext cx="3930386" cy="1952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F5D5F1-FE35-BD23-747D-63CD80CF09B6}"/>
              </a:ext>
            </a:extLst>
          </p:cNvPr>
          <p:cNvSpPr txBox="1"/>
          <p:nvPr/>
        </p:nvSpPr>
        <p:spPr>
          <a:xfrm>
            <a:off x="5738895" y="4748493"/>
            <a:ext cx="6096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하지만 다음과 같은 한계점도 발견</a:t>
            </a:r>
            <a:endParaRPr lang="en-US" altLang="ko-KR" sz="16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단순히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anomaly detection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이기에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오히려 시청자 수 대비 채팅 수가 월등히 높은 일부 데이터들이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anomaly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포함되었음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–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우리가 원하는 의심군과 정확히 대조되는 스트리밍도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사용 중으로 판별함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6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지나치게 많은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Streaming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전체의 약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14%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의심 군이라면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지나치게 진보적인 분류기이며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오히려 분류의 의미가 없음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836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0C85-9D61-B571-5810-7BA6274E8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E74B516-E558-29D0-F6B3-A727E0C54361}"/>
              </a:ext>
            </a:extLst>
          </p:cNvPr>
          <p:cNvSpPr/>
          <p:nvPr/>
        </p:nvSpPr>
        <p:spPr>
          <a:xfrm>
            <a:off x="604203" y="1239023"/>
            <a:ext cx="4805270" cy="3332977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6736DD-B38B-FCD5-E769-CC454CBE14C0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74E743-4F04-9752-DCD7-16A57E8CEC88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BF338-BAED-C40A-D044-0CA18562244F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Isolation forest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기반 고립 세션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flagging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23D6BD-B9DE-4A7D-60AA-CA315C7FB7B3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3.1. Isolation forest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기반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BE71A4F-0BDB-D009-9423-C764C31873F0}"/>
              </a:ext>
            </a:extLst>
          </p:cNvPr>
          <p:cNvSpPr/>
          <p:nvPr/>
        </p:nvSpPr>
        <p:spPr>
          <a:xfrm>
            <a:off x="5659895" y="230848"/>
            <a:ext cx="6026914" cy="1835103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EC8F0C8-A732-BC08-3069-211B92F0D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89" y="1692626"/>
            <a:ext cx="4327086" cy="26883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47CA192-D2C2-B092-956A-07DD79837548}"/>
              </a:ext>
            </a:extLst>
          </p:cNvPr>
          <p:cNvSpPr txBox="1"/>
          <p:nvPr/>
        </p:nvSpPr>
        <p:spPr>
          <a:xfrm>
            <a:off x="675322" y="1342737"/>
            <a:ext cx="4734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 진행 결과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B79F53-FB6F-3D8C-52B4-01BFF3B6E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204" y="4711789"/>
            <a:ext cx="3930386" cy="1952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4933E5-163C-BE96-C7EC-D76E0FBC8F8B}"/>
              </a:ext>
            </a:extLst>
          </p:cNvPr>
          <p:cNvSpPr txBox="1"/>
          <p:nvPr/>
        </p:nvSpPr>
        <p:spPr>
          <a:xfrm>
            <a:off x="5780866" y="347681"/>
            <a:ext cx="589483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결론적으로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Anomaly Detection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만으로는 우리가 원하는 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Detection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완수할 수 없음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가장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major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한 이유는 이는 우리가 원하는 의심군과 정확히 대조되는 스트리밍도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사용중으로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판별하기 때문임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오직 </a:t>
            </a:r>
            <a:r>
              <a:rPr lang="en-US" altLang="ko-KR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20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의심군만을</a:t>
            </a:r>
            <a:r>
              <a:rPr lang="ko-KR" altLang="en-US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탐지하는 모델을 만들어보자</a:t>
            </a:r>
            <a:r>
              <a:rPr lang="en-US" altLang="ko-KR" sz="2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!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2A45568-8AAA-F9E2-E02D-062F52F25999}"/>
              </a:ext>
            </a:extLst>
          </p:cNvPr>
          <p:cNvSpPr/>
          <p:nvPr/>
        </p:nvSpPr>
        <p:spPr>
          <a:xfrm>
            <a:off x="5659895" y="2327508"/>
            <a:ext cx="6026914" cy="1723550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93AB69-5FAE-A31A-E12E-5BA3177C990E}"/>
              </a:ext>
            </a:extLst>
          </p:cNvPr>
          <p:cNvSpPr txBox="1"/>
          <p:nvPr/>
        </p:nvSpPr>
        <p:spPr>
          <a:xfrm>
            <a:off x="5753828" y="2376296"/>
            <a:ext cx="58948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그런데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…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무엇이 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의심군인지 어떻게 정의하지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?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isolation Forest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기반 모델 및 이전의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K-means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클러스터링 결과를 보면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View-Bot steaming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다양한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Normal Streaming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차이를 보이고 서로 군집을 이루는 것으로 나타남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따라서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이전의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K-means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따로 분류되었던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개를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 세션으로 두고 모델 학습을 진행해보자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!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3AF3B73-7E72-58BC-BCCD-57DFE0AB3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9895" y="4151184"/>
            <a:ext cx="4030651" cy="2568135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9A8935A-70BC-F3DE-1832-B805A0ADDE44}"/>
              </a:ext>
            </a:extLst>
          </p:cNvPr>
          <p:cNvSpPr/>
          <p:nvPr/>
        </p:nvSpPr>
        <p:spPr>
          <a:xfrm>
            <a:off x="9853072" y="4312615"/>
            <a:ext cx="1833737" cy="2053348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C38A9D-5757-E606-149E-0EA2E4DD9C16}"/>
              </a:ext>
            </a:extLst>
          </p:cNvPr>
          <p:cNvSpPr txBox="1"/>
          <p:nvPr/>
        </p:nvSpPr>
        <p:spPr>
          <a:xfrm>
            <a:off x="9925209" y="4356164"/>
            <a:ext cx="1662588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KR" altLang="en-US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막간 상식</a:t>
            </a:r>
            <a:r>
              <a:rPr lang="en-US" altLang="ko-KR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What is SHAP?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Mechanism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각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Feature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를 모델에서 포함시켰다가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제외시키며 기여한 몫을 계산함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3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복잡한 모델의 판단 근거를 시각적으로 제시</a:t>
            </a:r>
            <a:endParaRPr lang="en-US" altLang="ko-KR" sz="12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955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448F-89C4-6133-F4FD-E4F79604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E0A5F73-BB94-07DD-812D-6505CB30E27D}"/>
              </a:ext>
            </a:extLst>
          </p:cNvPr>
          <p:cNvSpPr/>
          <p:nvPr/>
        </p:nvSpPr>
        <p:spPr>
          <a:xfrm>
            <a:off x="533083" y="2802066"/>
            <a:ext cx="4874734" cy="365969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AA82A04-AA6A-F1A4-6230-93E5C588B01A}"/>
              </a:ext>
            </a:extLst>
          </p:cNvPr>
          <p:cNvSpPr/>
          <p:nvPr/>
        </p:nvSpPr>
        <p:spPr>
          <a:xfrm>
            <a:off x="533083" y="1239024"/>
            <a:ext cx="4874734" cy="1382257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BE4EFD-8DC9-7058-FDA5-1063BE4AB670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0A2509-6EBA-2FCA-DF96-A60193C60EA0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1C594-92E8-6F6B-1B89-AAA2379F836E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Silver Label(K-Means 8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개 군집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)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기반의 의사결정 규칙 도출 및 분류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DDD373D-C5A3-82B2-BAC3-E6F171E1DF70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3.2.1. Decision Tree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6101C79-DC2E-CACC-58C5-D23EC36A5E15}"/>
              </a:ext>
            </a:extLst>
          </p:cNvPr>
          <p:cNvGrpSpPr/>
          <p:nvPr/>
        </p:nvGrpSpPr>
        <p:grpSpPr>
          <a:xfrm>
            <a:off x="5632003" y="1239023"/>
            <a:ext cx="6026914" cy="2366326"/>
            <a:chOff x="469583" y="74429"/>
            <a:chExt cx="4636933" cy="3606427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CF04486-1A94-7824-D5EA-2A0B719DE0AE}"/>
                </a:ext>
              </a:extLst>
            </p:cNvPr>
            <p:cNvSpPr/>
            <p:nvPr/>
          </p:nvSpPr>
          <p:spPr>
            <a:xfrm>
              <a:off x="469583" y="74429"/>
              <a:ext cx="4636933" cy="3606427"/>
            </a:xfrm>
            <a:prstGeom prst="roundRect">
              <a:avLst>
                <a:gd name="adj" fmla="val 6009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874986E-7AEC-8E6B-A117-3C0A3CE74001}"/>
                </a:ext>
              </a:extLst>
            </p:cNvPr>
            <p:cNvSpPr txBox="1"/>
            <p:nvPr/>
          </p:nvSpPr>
          <p:spPr>
            <a:xfrm>
              <a:off x="533560" y="198578"/>
              <a:ext cx="4572956" cy="7974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-  Decision Tree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의 정확도를 판별하기 위해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Train-Test Split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8:2, Stratify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옵션을 켜고 진행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 Features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에는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RobustScaler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사용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.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E75804-5334-A849-F28F-7631EFF1E459}"/>
              </a:ext>
            </a:extLst>
          </p:cNvPr>
          <p:cNvSpPr txBox="1"/>
          <p:nvPr/>
        </p:nvSpPr>
        <p:spPr>
          <a:xfrm>
            <a:off x="604202" y="1393682"/>
            <a:ext cx="47341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Why Decision Tree?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K-means Cluster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분류해낸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개의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Streaming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정답으로 가정했을 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그들은 다른 일반적인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Streaming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어떤 차이를 내는지 확실한 기준을 가지고 볼 수 있기 때문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즉 어떤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들이 분류에 영향을 주는지 파악 가능함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CA260E-A0C6-A7B8-77A0-88098C0C0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70" y="3004742"/>
            <a:ext cx="4549958" cy="325434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40AC82-073B-84A1-7274-4D7E14D2F83E}"/>
              </a:ext>
            </a:extLst>
          </p:cNvPr>
          <p:cNvSpPr txBox="1"/>
          <p:nvPr/>
        </p:nvSpPr>
        <p:spPr>
          <a:xfrm>
            <a:off x="785759" y="3063125"/>
            <a:ext cx="4734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 진행 결과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70884-D63B-24D5-BD29-ACC8225A4D0A}"/>
              </a:ext>
            </a:extLst>
          </p:cNvPr>
          <p:cNvSpPr txBox="1"/>
          <p:nvPr/>
        </p:nvSpPr>
        <p:spPr>
          <a:xfrm>
            <a:off x="5715158" y="1853295"/>
            <a:ext cx="59437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사용된 판단 기준은 총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(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log_mean_unique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x2,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median_gap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</a:t>
            </a:r>
            <a:r>
              <a:rPr lang="en-US" altLang="ko-KR" sz="12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log_mean_unique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생각보다 중요한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일 가능성</a:t>
            </a:r>
            <a:endParaRPr lang="en-US" altLang="ko-KR" sz="12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2A1591-DF1D-274C-8EE1-9A4D9B03EF12}"/>
              </a:ext>
            </a:extLst>
          </p:cNvPr>
          <p:cNvSpPr txBox="1"/>
          <p:nvPr/>
        </p:nvSpPr>
        <p:spPr>
          <a:xfrm>
            <a:off x="5673580" y="2850239"/>
            <a:ext cx="594375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정확도가 매우 높음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(Confusion Matrix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기준 완벽 분류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Decision Tree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만으로 매우 </a:t>
            </a:r>
            <a:r>
              <a:rPr lang="ko-KR" altLang="en-US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의미있는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분류기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?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58FBEA2-D0B8-DBDA-6E84-26D98812AE0D}"/>
              </a:ext>
            </a:extLst>
          </p:cNvPr>
          <p:cNvSpPr/>
          <p:nvPr/>
        </p:nvSpPr>
        <p:spPr>
          <a:xfrm>
            <a:off x="5632002" y="3847182"/>
            <a:ext cx="6026914" cy="2614577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E4C625A-BDB9-B1CC-3BB2-1140902A2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691" y="2259070"/>
            <a:ext cx="2370107" cy="191588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83C553E-CDD1-E7A4-650E-AF9587087A0F}"/>
              </a:ext>
            </a:extLst>
          </p:cNvPr>
          <p:cNvSpPr txBox="1"/>
          <p:nvPr/>
        </p:nvSpPr>
        <p:spPr>
          <a:xfrm>
            <a:off x="5715158" y="3956954"/>
            <a:ext cx="5943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몇 가지 문제점</a:t>
            </a:r>
            <a:endParaRPr lang="en-US" altLang="ko-KR" sz="16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현재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Test Data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내부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분류 데이터가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 뿐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순전히 운에 의한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Accuracy 100%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라 보는 것이 타당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84BBBF-BD60-B827-8321-D53804765530}"/>
              </a:ext>
            </a:extLst>
          </p:cNvPr>
          <p:cNvSpPr txBox="1"/>
          <p:nvPr/>
        </p:nvSpPr>
        <p:spPr>
          <a:xfrm>
            <a:off x="5715158" y="5582545"/>
            <a:ext cx="594375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확률적 접근이 불가능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 Decision Tree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 or 1 Classification: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방송이 어느 정도의 확률로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의심인지 판단이 불가능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만약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Boundary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근처라면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B047A6-B0BA-4FBD-5766-86AA7BE0A912}"/>
              </a:ext>
            </a:extLst>
          </p:cNvPr>
          <p:cNvSpPr txBox="1"/>
          <p:nvPr/>
        </p:nvSpPr>
        <p:spPr>
          <a:xfrm>
            <a:off x="5673579" y="4892860"/>
            <a:ext cx="594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문제를 해결하기 위해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현재 추가 데이터를 수집 중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추후 데이터가 많아진다면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Decision Tree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로는 분류가 힘들 것으로 예상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5957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F0B23-F951-A2F7-F26B-0E458FA74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4803A9C-D632-8226-DDF4-4E126A9969A7}"/>
              </a:ext>
            </a:extLst>
          </p:cNvPr>
          <p:cNvSpPr/>
          <p:nvPr/>
        </p:nvSpPr>
        <p:spPr>
          <a:xfrm>
            <a:off x="533083" y="2802066"/>
            <a:ext cx="4874734" cy="365969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B446C18-2E52-DAF7-630C-957E9C7F0029}"/>
              </a:ext>
            </a:extLst>
          </p:cNvPr>
          <p:cNvSpPr/>
          <p:nvPr/>
        </p:nvSpPr>
        <p:spPr>
          <a:xfrm>
            <a:off x="533083" y="1239024"/>
            <a:ext cx="4874734" cy="1382257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F26AB0-94D5-495E-ABC8-A6DFA475E87F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D087AD-7CC0-DC43-6A1D-4BAD8B8BF78B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2C733D-AA85-A071-F1AF-16D98FEFB669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Silver Label(K-Means 8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개 군집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)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기반의 의사결정 규칙 도출 및 분류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3489DC-0022-B127-EF87-8506595ED6F1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3.2.2. Gaussian Naive Bayes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10223C9-67D8-270F-936F-E2418276146A}"/>
              </a:ext>
            </a:extLst>
          </p:cNvPr>
          <p:cNvGrpSpPr/>
          <p:nvPr/>
        </p:nvGrpSpPr>
        <p:grpSpPr>
          <a:xfrm>
            <a:off x="5632003" y="1239023"/>
            <a:ext cx="6026914" cy="2366326"/>
            <a:chOff x="469583" y="74429"/>
            <a:chExt cx="4636933" cy="3606427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3C754731-6AE3-596E-2E08-821967864A80}"/>
                </a:ext>
              </a:extLst>
            </p:cNvPr>
            <p:cNvSpPr/>
            <p:nvPr/>
          </p:nvSpPr>
          <p:spPr>
            <a:xfrm>
              <a:off x="469583" y="74429"/>
              <a:ext cx="4636933" cy="3606427"/>
            </a:xfrm>
            <a:prstGeom prst="roundRect">
              <a:avLst>
                <a:gd name="adj" fmla="val 6009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30937B-0858-4FB6-A8AF-1C03BEC6B1B9}"/>
                </a:ext>
              </a:extLst>
            </p:cNvPr>
            <p:cNvSpPr txBox="1"/>
            <p:nvPr/>
          </p:nvSpPr>
          <p:spPr>
            <a:xfrm>
              <a:off x="533560" y="198578"/>
              <a:ext cx="4572956" cy="469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-  Train-Test Split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8:2, Stratify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옵션을 켜고 진행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RobustScaler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사용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ACE2725-BBFB-65C5-31EB-EC115430C5DD}"/>
              </a:ext>
            </a:extLst>
          </p:cNvPr>
          <p:cNvSpPr txBox="1"/>
          <p:nvPr/>
        </p:nvSpPr>
        <p:spPr>
          <a:xfrm>
            <a:off x="604202" y="1393682"/>
            <a:ext cx="47341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Why Gaussian Naive Bayes?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Decision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Tree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확률 접근 불가 문제를 해결하기 위한 고전적 베이스라인 모델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베이즈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정리를 기반으로 각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데이터 분포를 통해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일 확률을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연속적으로 도출함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39C02D-DBD8-EAA7-DB5A-044CDD0179F1}"/>
              </a:ext>
            </a:extLst>
          </p:cNvPr>
          <p:cNvSpPr txBox="1"/>
          <p:nvPr/>
        </p:nvSpPr>
        <p:spPr>
          <a:xfrm>
            <a:off x="604202" y="2882340"/>
            <a:ext cx="4734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 진행 결과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A3F593E-18D3-C3DE-A6BD-BB8A43011976}"/>
              </a:ext>
            </a:extLst>
          </p:cNvPr>
          <p:cNvSpPr/>
          <p:nvPr/>
        </p:nvSpPr>
        <p:spPr>
          <a:xfrm>
            <a:off x="5632002" y="3847182"/>
            <a:ext cx="6026914" cy="2614577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0B6F5-1B24-22A2-ED9B-6B29E8CCAC25}"/>
              </a:ext>
            </a:extLst>
          </p:cNvPr>
          <p:cNvSpPr txBox="1"/>
          <p:nvPr/>
        </p:nvSpPr>
        <p:spPr>
          <a:xfrm>
            <a:off x="5757273" y="4123418"/>
            <a:ext cx="57641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특징</a:t>
            </a:r>
            <a:endParaRPr lang="en-US" altLang="ko-KR" sz="16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/>
              <a:t>👍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Recall 100%: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긍정적인 부분은 단 하나의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의심군도 놓치지 않고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100%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확률로 적발해 냈다는 점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이상탐지 목적상 실제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모두 솎아낸 것은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Baseline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모델로서 좋은 성과다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⚠️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Overconfidence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Precision 40%: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하지만 변수 간의 복잡한 상관관계를 무시하는 독립성 가정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(Naïve)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있음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그 결과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조금만 이상해도 과잉 확신하는 경향성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거의 비율상으로는 이전의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Isolation Forest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와 비슷한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14%.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93C96BF-0EAC-2DAA-FDBB-7C0F7FB36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58" y="3148311"/>
            <a:ext cx="4033583" cy="315616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D45C747-6A92-8030-326D-6B8F8E462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29" y="1688969"/>
            <a:ext cx="2409277" cy="182058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6FED72-5C8E-AEEB-DFD6-7D9C215C17B8}"/>
              </a:ext>
            </a:extLst>
          </p:cNvPr>
          <p:cNvSpPr txBox="1"/>
          <p:nvPr/>
        </p:nvSpPr>
        <p:spPr>
          <a:xfrm>
            <a:off x="8645458" y="2160035"/>
            <a:ext cx="16963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Accuracy: 91.4%</a:t>
            </a:r>
          </a:p>
          <a:p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Recall: 100% (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중요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  <a:p>
            <a:r>
              <a:rPr lang="en-US" altLang="ko-KR" sz="16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Precision: 40%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5710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3D74-452E-C5AD-142D-10A33215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84633DE-08A0-2F08-0BBA-40A43C683541}"/>
              </a:ext>
            </a:extLst>
          </p:cNvPr>
          <p:cNvSpPr/>
          <p:nvPr/>
        </p:nvSpPr>
        <p:spPr>
          <a:xfrm>
            <a:off x="533083" y="2802066"/>
            <a:ext cx="4874734" cy="365969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5DC7508-B01F-8636-9A6C-6F5973153B2D}"/>
              </a:ext>
            </a:extLst>
          </p:cNvPr>
          <p:cNvSpPr/>
          <p:nvPr/>
        </p:nvSpPr>
        <p:spPr>
          <a:xfrm>
            <a:off x="533083" y="1239025"/>
            <a:ext cx="4874734" cy="128788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739D12-BF0B-12EC-2885-FA1E95063724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6BB4E9-8A0F-6D95-A916-702F4880A8A1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45B05-CB49-9792-D73A-76CCDFE49656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Silver Label(K-Means 8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개 군집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)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기반의 의사결정 규칙 도출 및 분류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108182-97C5-4F57-5E66-68CA6A85C5E0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3.3. Classification Neural Network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1B42E45-C489-23A6-F55C-FB999EECF6E0}"/>
              </a:ext>
            </a:extLst>
          </p:cNvPr>
          <p:cNvGrpSpPr/>
          <p:nvPr/>
        </p:nvGrpSpPr>
        <p:grpSpPr>
          <a:xfrm>
            <a:off x="5632002" y="466582"/>
            <a:ext cx="6077739" cy="1007788"/>
            <a:chOff x="469583" y="74429"/>
            <a:chExt cx="4676036" cy="3606427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73135F6E-E952-6DD9-CD72-6783C2A53EBC}"/>
                </a:ext>
              </a:extLst>
            </p:cNvPr>
            <p:cNvSpPr/>
            <p:nvPr/>
          </p:nvSpPr>
          <p:spPr>
            <a:xfrm>
              <a:off x="469583" y="74429"/>
              <a:ext cx="4636933" cy="3606427"/>
            </a:xfrm>
            <a:prstGeom prst="roundRect">
              <a:avLst>
                <a:gd name="adj" fmla="val 6009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3A413CB-8455-5E67-03B1-A9C827B848AE}"/>
                </a:ext>
              </a:extLst>
            </p:cNvPr>
            <p:cNvSpPr txBox="1"/>
            <p:nvPr/>
          </p:nvSpPr>
          <p:spPr>
            <a:xfrm>
              <a:off x="572663" y="416400"/>
              <a:ext cx="4572956" cy="4690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-  Train-Test Split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을 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8:2, Stratify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옵션을 켜고 진행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, </a:t>
              </a:r>
              <a:r>
                <a:rPr lang="en-US" altLang="ko-KR" sz="1400" b="1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RobustScaler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ko-KR" altLang="en-US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사용</a:t>
              </a:r>
              <a:r>
                <a:rPr lang="en-US" altLang="ko-KR" sz="1400" b="1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endPara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231D84-D29B-889B-86A5-D9DC88A6577B}"/>
              </a:ext>
            </a:extLst>
          </p:cNvPr>
          <p:cNvSpPr txBox="1"/>
          <p:nvPr/>
        </p:nvSpPr>
        <p:spPr>
          <a:xfrm>
            <a:off x="604202" y="1474370"/>
            <a:ext cx="473415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Why Neural Network?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비선형성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(Non-linearity)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학습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시청자 수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채팅 빈도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2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median_gap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등 다양한 변수들이 서로 어떻게 얽혀서 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특징을 만들어내는지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복잡한 상관관계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를 </a:t>
            </a:r>
            <a:r>
              <a:rPr lang="ko-KR" altLang="en-US" sz="12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은닉층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(Hidden Layer)</a:t>
            </a:r>
            <a:r>
              <a:rPr lang="ko-KR" altLang="en-US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통해 유연하고 정교하게 학습함</a:t>
            </a:r>
            <a:r>
              <a:rPr lang="en-US" altLang="ko-KR" sz="12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BEAC90-20A2-75D5-6E51-C8351E5855F7}"/>
              </a:ext>
            </a:extLst>
          </p:cNvPr>
          <p:cNvSpPr txBox="1"/>
          <p:nvPr/>
        </p:nvSpPr>
        <p:spPr>
          <a:xfrm>
            <a:off x="604202" y="2882340"/>
            <a:ext cx="4734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 진행 결과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12994ED-B3CD-994A-B432-192ABC327B26}"/>
              </a:ext>
            </a:extLst>
          </p:cNvPr>
          <p:cNvSpPr/>
          <p:nvPr/>
        </p:nvSpPr>
        <p:spPr>
          <a:xfrm>
            <a:off x="5632002" y="4415246"/>
            <a:ext cx="6026914" cy="2046513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8B146B-B8F6-D3EA-B7B9-2186A971EEC4}"/>
              </a:ext>
            </a:extLst>
          </p:cNvPr>
          <p:cNvSpPr txBox="1"/>
          <p:nvPr/>
        </p:nvSpPr>
        <p:spPr>
          <a:xfrm>
            <a:off x="5757273" y="4478009"/>
            <a:ext cx="57641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특징</a:t>
            </a:r>
            <a:endParaRPr lang="en-US" altLang="ko-KR" sz="16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개선된 정밀도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적발 능력은 유지하면서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False Positive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분류율을 줄이는데 성공함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분류율의 차이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극단적으로 분류하지 않고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경계면에 위치한 데이터들에 대해 조금 더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의심 확률을 높게 잡음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C10BD3-857C-5FAD-21EE-284F6D9A85DA}"/>
              </a:ext>
            </a:extLst>
          </p:cNvPr>
          <p:cNvSpPr txBox="1"/>
          <p:nvPr/>
        </p:nvSpPr>
        <p:spPr>
          <a:xfrm>
            <a:off x="6096000" y="3451950"/>
            <a:ext cx="16963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Accuracy: 94.3%</a:t>
            </a:r>
          </a:p>
          <a:p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Recall: 100% (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중요</a:t>
            </a: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</a:p>
          <a:p>
            <a:r>
              <a:rPr lang="en-US" altLang="ko-KR" sz="16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Precision: 50%</a:t>
            </a:r>
            <a:endParaRPr lang="ko-KR" altLang="en-US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F76B2C-3374-AB6C-548D-C2509C1B3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83" y="3206221"/>
            <a:ext cx="4874734" cy="293853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3E64C1-0A31-984F-C352-A829C338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273" y="1658636"/>
            <a:ext cx="2230147" cy="17445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C4A1AE-5EB8-B3EA-D61F-59CD95CCCF50}"/>
              </a:ext>
            </a:extLst>
          </p:cNvPr>
          <p:cNvSpPr txBox="1"/>
          <p:nvPr/>
        </p:nvSpPr>
        <p:spPr>
          <a:xfrm>
            <a:off x="5771299" y="879397"/>
            <a:ext cx="5943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Hidden Layer: (16, 8,), Activation Func: </a:t>
            </a:r>
            <a:r>
              <a:rPr lang="en-US" altLang="ko-KR" sz="14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ReLu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alpha: .0001, iter = 1,000, optimizer: </a:t>
            </a:r>
            <a:r>
              <a:rPr lang="en-US" altLang="ko-KR" sz="14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adam</a:t>
            </a:r>
            <a:endParaRPr lang="en-US" altLang="ko-KR" sz="12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FFB2162-0A37-064D-2BB4-C0620C89B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887" y="2163952"/>
            <a:ext cx="3539854" cy="17445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E5F403-DDD6-FF9E-7F9D-CD7B83E4325E}"/>
              </a:ext>
            </a:extLst>
          </p:cNvPr>
          <p:cNvSpPr txBox="1"/>
          <p:nvPr/>
        </p:nvSpPr>
        <p:spPr>
          <a:xfrm>
            <a:off x="5757272" y="5659907"/>
            <a:ext cx="5764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한계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Baysian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Model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비교해서 거의 성능 향상이 없음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 NN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학습하기에는 데이터 수가 너무 적음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9959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97069-F766-BFE2-3462-036AF983F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61FF3F7-905E-8192-C915-05266E4994CA}"/>
              </a:ext>
            </a:extLst>
          </p:cNvPr>
          <p:cNvSpPr/>
          <p:nvPr/>
        </p:nvSpPr>
        <p:spPr>
          <a:xfrm>
            <a:off x="868670" y="1316718"/>
            <a:ext cx="4874734" cy="4552715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C372E5-7304-4682-F833-2ADA5310C3E6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D536B9-7979-0B90-4AA2-5608D578116C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DA22C-623F-860A-626B-A340EBABF766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진행했던 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4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개의 모델 결과 비교 및 개선점 파악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859C107-E216-9E38-AFB5-9A56A6B0F042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3.4.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정리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374D3-3A52-8D70-8D6F-3ED34856D472}"/>
              </a:ext>
            </a:extLst>
          </p:cNvPr>
          <p:cNvSpPr txBox="1"/>
          <p:nvPr/>
        </p:nvSpPr>
        <p:spPr>
          <a:xfrm>
            <a:off x="1025318" y="1474370"/>
            <a:ext cx="4577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en-US" altLang="ko-KR" sz="14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isolationForest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다양한 부분에서 일반적인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Streaming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차이점을 보인다는 것을 실증적으로 증명함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한편 원하지 않는 방향의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anomal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까지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Detect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되고 지나치게 많은 방송을 의심함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E53211-3245-DAEC-C367-22726FD4B9C8}"/>
              </a:ext>
            </a:extLst>
          </p:cNvPr>
          <p:cNvSpPr txBox="1"/>
          <p:nvPr/>
        </p:nvSpPr>
        <p:spPr>
          <a:xfrm>
            <a:off x="1025318" y="2463217"/>
            <a:ext cx="4577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en-US" altLang="ko-KR" sz="14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DecisionTree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완벽하게 분류함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하지만 데이터 수가 부족하기 때문일 확률이 큼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DecisionTree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따르면 주요한 판단 기준은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log_mean_unique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x2,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median_gap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51BE37-0CE8-F1A6-E1B8-D825D09E3D3B}"/>
              </a:ext>
            </a:extLst>
          </p:cNvPr>
          <p:cNvSpPr txBox="1"/>
          <p:nvPr/>
        </p:nvSpPr>
        <p:spPr>
          <a:xfrm>
            <a:off x="1017338" y="3466804"/>
            <a:ext cx="45773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Naïve Bayes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정확도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91%, Recall 100%, Precision 40%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기본 모델인만큼 정확도가 낮음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1FAE0B-0877-53E4-49DA-65C7BAE52915}"/>
              </a:ext>
            </a:extLst>
          </p:cNvPr>
          <p:cNvSpPr txBox="1"/>
          <p:nvPr/>
        </p:nvSpPr>
        <p:spPr>
          <a:xfrm>
            <a:off x="1046100" y="4281075"/>
            <a:ext cx="4577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Neural Network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정확도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94%, Recall 100%, Precision 50%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Naïve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Bayes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모델보다는 발전했지만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Neural Network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이론적으로 가지는 수학적 결정력을 생각하면 아쉬움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SHAP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따르면 주요한 판단 기준은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zero_chat_rate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median_gap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log_max_zero_run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1227220-CC9A-756E-5612-376D585F9AFD}"/>
              </a:ext>
            </a:extLst>
          </p:cNvPr>
          <p:cNvSpPr/>
          <p:nvPr/>
        </p:nvSpPr>
        <p:spPr>
          <a:xfrm>
            <a:off x="6036632" y="1045624"/>
            <a:ext cx="4874734" cy="3368493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CC67CC-22C8-F109-B3E2-E75C4A350735}"/>
              </a:ext>
            </a:extLst>
          </p:cNvPr>
          <p:cNvSpPr txBox="1"/>
          <p:nvPr/>
        </p:nvSpPr>
        <p:spPr>
          <a:xfrm>
            <a:off x="6156539" y="1190987"/>
            <a:ext cx="4577397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주목할만한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point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가장 </a:t>
            </a:r>
            <a:r>
              <a:rPr lang="ko-KR" altLang="en-US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신경쓰이는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부분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DT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NN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모델에서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판단 기준이 서로 상이함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이는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방송이 여러 차원에서 차이를 보인다는 것을 실증하지만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동시에 다음과 같은 한계점을 증명함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1.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K-means 8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 군집 자체가 불완전한 가설일 수 있음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–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모델들은 각자 다른 방식으로 억지로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특징을 </a:t>
            </a:r>
            <a:r>
              <a:rPr lang="ko-KR" altLang="en-US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과적합했을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수 있음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2.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데이터의 수가 매우 부족함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–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근본적으로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데이터의 수가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개로 매우 적기 때문에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다양한 기준으로도 </a:t>
            </a:r>
            <a:r>
              <a:rPr lang="ko-KR" altLang="en-US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무리없이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분류되었을 것임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3.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단일 모델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(Global Model)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한계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'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정상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vs View-Bot'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단순 이진 분류로는 방송 데이터 내부의 다양한 세부 패턴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이질성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온전히 담아낼 수 없음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FE8D514-7A35-EA43-AAD9-3A98F9841189}"/>
              </a:ext>
            </a:extLst>
          </p:cNvPr>
          <p:cNvSpPr/>
          <p:nvPr/>
        </p:nvSpPr>
        <p:spPr>
          <a:xfrm>
            <a:off x="6036632" y="4686733"/>
            <a:ext cx="4874734" cy="1783736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C9BDAD-B773-5E1E-0592-AE66CF10AE3E}"/>
              </a:ext>
            </a:extLst>
          </p:cNvPr>
          <p:cNvSpPr txBox="1"/>
          <p:nvPr/>
        </p:nvSpPr>
        <p:spPr>
          <a:xfrm>
            <a:off x="6121703" y="4764777"/>
            <a:ext cx="47260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6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필요 개선점</a:t>
            </a:r>
            <a:endParaRPr lang="en-US" altLang="ko-KR" sz="16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수의 추가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현재 데이터는 약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주 전까지의 데이터로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지속적으로 데이터를 모으고 있으며 기말까지 약 현재 데이터의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배를 추가로 모을 것으로 예상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2.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새로운 모델의 필요성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많은 정상 데이터들을 학습시킨 뒤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정상 범주를 넘어서는 것을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색출하는 형태의 </a:t>
            </a:r>
            <a:r>
              <a:rPr lang="en-US" altLang="ko-KR" sz="12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AutoEncoder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모델이 필요함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3. Clustering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이진 분류로 하지 않고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전체 구조를 다시 파악해보기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840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62430-5337-E76B-C3F0-618A2A22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CD3D13A-3D90-2738-6EBE-32B6E438CD60}"/>
              </a:ext>
            </a:extLst>
          </p:cNvPr>
          <p:cNvCxnSpPr/>
          <p:nvPr/>
        </p:nvCxnSpPr>
        <p:spPr>
          <a:xfrm>
            <a:off x="3582205" y="2801074"/>
            <a:ext cx="4826643" cy="0"/>
          </a:xfrm>
          <a:prstGeom prst="line">
            <a:avLst/>
          </a:prstGeom>
          <a:ln>
            <a:solidFill>
              <a:srgbClr val="153325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3AE4F5E-9BB1-D53C-9FDD-007796EBFC0E}"/>
              </a:ext>
            </a:extLst>
          </p:cNvPr>
          <p:cNvSpPr txBox="1"/>
          <p:nvPr/>
        </p:nvSpPr>
        <p:spPr>
          <a:xfrm>
            <a:off x="4595304" y="1964424"/>
            <a:ext cx="280044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solidFill>
                  <a:srgbClr val="22523B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PART. 04</a:t>
            </a:r>
            <a:endParaRPr lang="ko-KR" altLang="en-US" sz="3200" dirty="0">
              <a:solidFill>
                <a:srgbClr val="22523B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31464E-BF30-C15E-F890-CB55C59C02D5}"/>
              </a:ext>
            </a:extLst>
          </p:cNvPr>
          <p:cNvSpPr txBox="1"/>
          <p:nvPr/>
        </p:nvSpPr>
        <p:spPr>
          <a:xfrm>
            <a:off x="4595304" y="3181677"/>
            <a:ext cx="28004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rgbClr val="22523B"/>
                </a:solidFill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rPr>
              <a:t>향후 프로젝트 계획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0D459-333B-3E43-9589-162F66409DEF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함초롬돋움" panose="020B0604000101010101" pitchFamily="50" charset="-127"/>
                <a:ea typeface="함초롬돋움" panose="020B0604000101010101" pitchFamily="50" charset="-127"/>
              </a:rPr>
              <a:t>YEONDU-UNNIE POWERPOINT PRESENTATION</a:t>
            </a:r>
            <a:endParaRPr lang="ko-KR" altLang="en-US" sz="800" b="1" dirty="0">
              <a:latin typeface="함초롬돋움" panose="020B0604000101010101" pitchFamily="50" charset="-127"/>
              <a:ea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8702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3AAC4-596F-CFBC-108E-AFEF0531F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E74DCD-BC0F-B798-13B2-BC49D9FC9BAB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D356B9A-B51B-81E4-D173-74EB6C56C37D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83506-D793-BDF4-B85E-893A20CD602D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GMM Clustering &amp; HDBSCAN 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FC9800-976D-1880-011B-38124679DF20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4.1 From </a:t>
            </a:r>
            <a:r>
              <a:rPr lang="en-US" altLang="ko-KR" sz="2000" dirty="0" err="1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Kmeans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-based Global Model to Cluster-aware Modeling</a:t>
            </a:r>
            <a:endParaRPr lang="ko-KR" altLang="en-US" sz="2000" dirty="0">
              <a:solidFill>
                <a:srgbClr val="22523B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20DFDCD-D801-D8C4-1E85-73D7CAA0CF95}"/>
              </a:ext>
            </a:extLst>
          </p:cNvPr>
          <p:cNvSpPr/>
          <p:nvPr/>
        </p:nvSpPr>
        <p:spPr>
          <a:xfrm>
            <a:off x="6301384" y="1397583"/>
            <a:ext cx="5636615" cy="1514840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0B44BD2-9CD3-ABA5-9B0A-AB9C7E362527}"/>
              </a:ext>
            </a:extLst>
          </p:cNvPr>
          <p:cNvSpPr/>
          <p:nvPr/>
        </p:nvSpPr>
        <p:spPr>
          <a:xfrm>
            <a:off x="534763" y="3159542"/>
            <a:ext cx="3898341" cy="3549701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632E337-0813-CCB9-FB09-CE9F3300B3F0}"/>
              </a:ext>
            </a:extLst>
          </p:cNvPr>
          <p:cNvSpPr/>
          <p:nvPr/>
        </p:nvSpPr>
        <p:spPr>
          <a:xfrm>
            <a:off x="516299" y="1397583"/>
            <a:ext cx="5529636" cy="1514840"/>
          </a:xfrm>
          <a:prstGeom prst="roundRect">
            <a:avLst>
              <a:gd name="adj" fmla="val 8558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822AF52-F77F-0916-EC41-9D301D056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42" y="1472601"/>
            <a:ext cx="2623475" cy="136480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CD54066-6423-1DC0-5699-ABA58DA4D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217" y="1472601"/>
            <a:ext cx="2628450" cy="136480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D196067-AE56-DEA7-0C7D-182CD74BF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42" y="3348649"/>
            <a:ext cx="3320800" cy="2141263"/>
          </a:xfrm>
          <a:prstGeom prst="rect">
            <a:avLst/>
          </a:prstGeom>
        </p:spPr>
      </p:pic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7DE41FFA-A0EA-916C-D578-0DA9B913254C}"/>
              </a:ext>
            </a:extLst>
          </p:cNvPr>
          <p:cNvGraphicFramePr>
            <a:graphicFrameLocks noGrp="1"/>
          </p:cNvGraphicFramePr>
          <p:nvPr/>
        </p:nvGraphicFramePr>
        <p:xfrm>
          <a:off x="3342556" y="1472601"/>
          <a:ext cx="2623476" cy="883920"/>
        </p:xfrm>
        <a:graphic>
          <a:graphicData uri="http://schemas.openxmlformats.org/drawingml/2006/table">
            <a:tbl>
              <a:tblPr/>
              <a:tblGrid>
                <a:gridCol w="655869">
                  <a:extLst>
                    <a:ext uri="{9D8B030D-6E8A-4147-A177-3AD203B41FA5}">
                      <a16:colId xmlns:a16="http://schemas.microsoft.com/office/drawing/2014/main" val="328496856"/>
                    </a:ext>
                  </a:extLst>
                </a:gridCol>
                <a:gridCol w="655869">
                  <a:extLst>
                    <a:ext uri="{9D8B030D-6E8A-4147-A177-3AD203B41FA5}">
                      <a16:colId xmlns:a16="http://schemas.microsoft.com/office/drawing/2014/main" val="3449920780"/>
                    </a:ext>
                  </a:extLst>
                </a:gridCol>
                <a:gridCol w="655869">
                  <a:extLst>
                    <a:ext uri="{9D8B030D-6E8A-4147-A177-3AD203B41FA5}">
                      <a16:colId xmlns:a16="http://schemas.microsoft.com/office/drawing/2014/main" val="1216941325"/>
                    </a:ext>
                  </a:extLst>
                </a:gridCol>
                <a:gridCol w="655869">
                  <a:extLst>
                    <a:ext uri="{9D8B030D-6E8A-4147-A177-3AD203B41FA5}">
                      <a16:colId xmlns:a16="http://schemas.microsoft.com/office/drawing/2014/main" val="2852339906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silhouette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4848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-2158.18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-2508.2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33074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-2178.72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-2617.03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0009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-2155.28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-2681.88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135017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DBFEDC45-9B03-E8A8-44BC-319C91A988BB}"/>
              </a:ext>
            </a:extLst>
          </p:cNvPr>
          <p:cNvGraphicFramePr>
            <a:graphicFrameLocks noGrp="1"/>
          </p:cNvGraphicFramePr>
          <p:nvPr/>
        </p:nvGraphicFramePr>
        <p:xfrm>
          <a:off x="9143619" y="1472601"/>
          <a:ext cx="2705866" cy="784860"/>
        </p:xfrm>
        <a:graphic>
          <a:graphicData uri="http://schemas.openxmlformats.org/drawingml/2006/table">
            <a:tbl>
              <a:tblPr/>
              <a:tblGrid>
                <a:gridCol w="589661">
                  <a:extLst>
                    <a:ext uri="{9D8B030D-6E8A-4147-A177-3AD203B41FA5}">
                      <a16:colId xmlns:a16="http://schemas.microsoft.com/office/drawing/2014/main" val="119791438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30784725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119520865"/>
                    </a:ext>
                  </a:extLst>
                </a:gridCol>
                <a:gridCol w="599440">
                  <a:extLst>
                    <a:ext uri="{9D8B030D-6E8A-4147-A177-3AD203B41FA5}">
                      <a16:colId xmlns:a16="http://schemas.microsoft.com/office/drawing/2014/main" val="2356510527"/>
                    </a:ext>
                  </a:extLst>
                </a:gridCol>
                <a:gridCol w="500765">
                  <a:extLst>
                    <a:ext uri="{9D8B030D-6E8A-4147-A177-3AD203B41FA5}">
                      <a16:colId xmlns:a16="http://schemas.microsoft.com/office/drawing/2014/main" val="3903512463"/>
                    </a:ext>
                  </a:extLst>
                </a:gridCol>
              </a:tblGrid>
              <a:tr h="1733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min_size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n_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clusters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n_noise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coverage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score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644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82447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51596"/>
                  </a:ext>
                </a:extLst>
              </a:tr>
            </a:tbl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A47808A2-8344-1980-E1EB-4AC90F87F33D}"/>
              </a:ext>
            </a:extLst>
          </p:cNvPr>
          <p:cNvSpPr txBox="1"/>
          <p:nvPr/>
        </p:nvSpPr>
        <p:spPr>
          <a:xfrm>
            <a:off x="9943322" y="3156279"/>
            <a:ext cx="21290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유의사항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6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개의 요소를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 feature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 넣었고 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2D plot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했기에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간에 혼합되어 보일 수 있음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993DBFB-9549-BF6C-B426-0086EC865808}"/>
              </a:ext>
            </a:extLst>
          </p:cNvPr>
          <p:cNvSpPr txBox="1"/>
          <p:nvPr/>
        </p:nvSpPr>
        <p:spPr>
          <a:xfrm>
            <a:off x="657642" y="5570219"/>
            <a:ext cx="445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Active component: n =105, viewer=907, chat/min= 73.4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Mismatch-like component: n=5, viewer=498, chat/min=0.21, </a:t>
            </a:r>
          </a:p>
          <a:p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zero-chat=88.8%</a:t>
            </a:r>
            <a:endParaRPr lang="ko-KR" altLang="en-US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BE0C87-D1B9-08F0-EF03-038535C56069}"/>
              </a:ext>
            </a:extLst>
          </p:cNvPr>
          <p:cNvSpPr txBox="1"/>
          <p:nvPr/>
        </p:nvSpPr>
        <p:spPr>
          <a:xfrm>
            <a:off x="3312019" y="2356521"/>
            <a:ext cx="27751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BIC</a:t>
            </a:r>
            <a: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minimum: 5 components</a:t>
            </a:r>
            <a:b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05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AIC</a:t>
            </a:r>
            <a: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minimum: 6 components</a:t>
            </a:r>
            <a:b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05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→ GMM suggests hidden sub-structures</a:t>
            </a:r>
            <a: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647653-673A-5015-DFD6-BC4D98B94483}"/>
              </a:ext>
            </a:extLst>
          </p:cNvPr>
          <p:cNvSpPr txBox="1"/>
          <p:nvPr/>
        </p:nvSpPr>
        <p:spPr>
          <a:xfrm>
            <a:off x="9119691" y="2296401"/>
            <a:ext cx="262845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min_cluster_size</a:t>
            </a:r>
            <a: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= 5 gives the best balance:</a:t>
            </a:r>
            <a:b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5 clusters, 16 noise sessions,</a:t>
            </a:r>
            <a:b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05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coverage </a:t>
            </a:r>
            <a: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= 90.8%, </a:t>
            </a:r>
            <a:r>
              <a:rPr lang="en-US" altLang="ko-KR" sz="105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score = </a:t>
            </a:r>
            <a:r>
              <a:rPr lang="en-US" altLang="ko-KR" sz="105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0.330</a:t>
            </a:r>
            <a:endParaRPr lang="ko-KR" altLang="en-US" sz="105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4FF7E63-52E3-5870-BF1B-F759B92FA07F}"/>
              </a:ext>
            </a:extLst>
          </p:cNvPr>
          <p:cNvGrpSpPr/>
          <p:nvPr/>
        </p:nvGrpSpPr>
        <p:grpSpPr>
          <a:xfrm>
            <a:off x="4744340" y="3156279"/>
            <a:ext cx="5388292" cy="3552965"/>
            <a:chOff x="6319850" y="3061854"/>
            <a:chExt cx="5388292" cy="3552965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DCE58FE9-E487-BB4D-3237-8072DE6B58CF}"/>
                </a:ext>
              </a:extLst>
            </p:cNvPr>
            <p:cNvSpPr/>
            <p:nvPr/>
          </p:nvSpPr>
          <p:spPr>
            <a:xfrm>
              <a:off x="6319850" y="3061854"/>
              <a:ext cx="5046490" cy="3552965"/>
            </a:xfrm>
            <a:prstGeom prst="roundRect">
              <a:avLst>
                <a:gd name="adj" fmla="val 8558"/>
              </a:avLst>
            </a:prstGeom>
            <a:solidFill>
              <a:srgbClr val="DFE9E6"/>
            </a:solidFill>
            <a:ln w="28575">
              <a:solidFill>
                <a:srgbClr val="90B3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F37A4AD4-DD2B-B763-9AA3-C6CED87E0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6217" y="3159543"/>
              <a:ext cx="3320801" cy="2141263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088C75A-2B4F-83DE-4FC9-DCFE3E716511}"/>
                </a:ext>
              </a:extLst>
            </p:cNvPr>
            <p:cNvSpPr txBox="1"/>
            <p:nvPr/>
          </p:nvSpPr>
          <p:spPr>
            <a:xfrm>
              <a:off x="6456217" y="5357648"/>
              <a:ext cx="283256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HDBSCAN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 err="1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sperates</a:t>
              </a:r>
              <a:r>
                <a:rPr lang="ko-KR" altLang="en-US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 </a:t>
              </a: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stable clusters and noise</a:t>
              </a:r>
            </a:p>
            <a:p>
              <a:endPara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Cluster 4: active normal</a:t>
              </a:r>
              <a:b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n=104, viewer=902, chat/min=70.2</a:t>
              </a:r>
              <a:b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b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Noise: 16 manual-review candidates</a:t>
              </a:r>
              <a:endPara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BA1C1FA-9BAB-5A12-2C10-9925A0DE6AB9}"/>
                </a:ext>
              </a:extLst>
            </p:cNvPr>
            <p:cNvSpPr txBox="1"/>
            <p:nvPr/>
          </p:nvSpPr>
          <p:spPr>
            <a:xfrm>
              <a:off x="9084667" y="5644876"/>
              <a:ext cx="262347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Cluster 0: mismatch candidate</a:t>
              </a:r>
              <a:b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n=5, viewer=498, chat/min=0.21,</a:t>
              </a:r>
              <a:b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  <a:t>zero-chat=88.8%, max zero-run=26</a:t>
              </a:r>
              <a:br>
                <a:rPr lang="en-US" altLang="ko-KR" sz="1200" dirty="0">
                  <a:latin typeface="나눔바른펜" panose="020B0503000000000000" pitchFamily="50" charset="-127"/>
                  <a:ea typeface="나눔바른펜" panose="020B0503000000000000" pitchFamily="50" charset="-127"/>
                </a:rPr>
              </a:br>
              <a:endParaRPr lang="ko-KR" altLang="en-US" sz="1200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E90AD06-8C3B-D031-F906-384A9A425FD4}"/>
              </a:ext>
            </a:extLst>
          </p:cNvPr>
          <p:cNvSpPr txBox="1"/>
          <p:nvPr/>
        </p:nvSpPr>
        <p:spPr>
          <a:xfrm>
            <a:off x="9943322" y="4110386"/>
            <a:ext cx="19946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결론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Kmeans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큰 구분에는 유용했지만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</a:p>
          <a:p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GMM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HDBSCAN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은 세션 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내부의 </a:t>
            </a:r>
            <a:r>
              <a:rPr lang="ko-KR" altLang="en-US" sz="1400" b="1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이질성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보여준다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ko-KR" altLang="en-US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FF875043-3D88-B909-D113-8B498DB73DFC}"/>
              </a:ext>
            </a:extLst>
          </p:cNvPr>
          <p:cNvSpPr/>
          <p:nvPr/>
        </p:nvSpPr>
        <p:spPr>
          <a:xfrm>
            <a:off x="10683433" y="5064493"/>
            <a:ext cx="300942" cy="674808"/>
          </a:xfrm>
          <a:prstGeom prst="downArrow">
            <a:avLst/>
          </a:prstGeom>
          <a:solidFill>
            <a:srgbClr val="DFE9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1A5155-80CA-6566-4EB6-EF09E87EA431}"/>
              </a:ext>
            </a:extLst>
          </p:cNvPr>
          <p:cNvSpPr txBox="1"/>
          <p:nvPr/>
        </p:nvSpPr>
        <p:spPr>
          <a:xfrm>
            <a:off x="9943321" y="5847218"/>
            <a:ext cx="19061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기말 모델은 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cluster-aware modeling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확장</a:t>
            </a:r>
          </a:p>
        </p:txBody>
      </p:sp>
    </p:spTree>
    <p:extLst>
      <p:ext uri="{BB962C8B-B14F-4D97-AF65-F5344CB8AC3E}">
        <p14:creationId xmlns:p14="http://schemas.microsoft.com/office/powerpoint/2010/main" val="3658481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9FAD-93CC-3A81-1EDC-774382CB8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43831AD-E7C0-7AEB-5C9F-42554FAB4374}"/>
              </a:ext>
            </a:extLst>
          </p:cNvPr>
          <p:cNvSpPr/>
          <p:nvPr/>
        </p:nvSpPr>
        <p:spPr>
          <a:xfrm>
            <a:off x="868670" y="1316718"/>
            <a:ext cx="4874734" cy="1861911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35BD340-5FBB-8C46-2515-9354027923A8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C8226C-E026-42C3-027F-3DD85D580297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FA3C19-5A77-6BAE-D2D4-48C58BFF62D0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기말에는 조금 더 좋은 모델을 만들어 </a:t>
            </a:r>
            <a:r>
              <a:rPr lang="ko-KR" altLang="en-US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의미있는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결과를 낼 수 있길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….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8CD66F-DE0D-DDE9-ECEB-D68A042F10BF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4.2.1.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기말 발표까지 개선할 요소들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0BD79-5008-517C-D1D2-7304EC8CC6AF}"/>
              </a:ext>
            </a:extLst>
          </p:cNvPr>
          <p:cNvSpPr txBox="1"/>
          <p:nvPr/>
        </p:nvSpPr>
        <p:spPr>
          <a:xfrm>
            <a:off x="1025318" y="1474370"/>
            <a:ext cx="4577397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절대적 데이터 수의 추가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실질적으로 가장 큰 모델 성능 향상을 가져올 핵심 요소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현재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173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 세션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단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8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개의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의심군이라는 극소수 데이터가 가진 통계적 불안정성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및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Overfitting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문제를 해결하기 위해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대규모 추가 </a:t>
            </a:r>
            <a:r>
              <a:rPr lang="ko-KR" altLang="en-US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크롤링을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진행하여 모델의 일반화 성능을 확보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예상되는 데이터 수는 약 </a:t>
            </a:r>
            <a:r>
              <a:rPr lang="en-US" altLang="ko-KR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450~500</a:t>
            </a:r>
            <a:r>
              <a:rPr lang="ko-KR" altLang="en-US" sz="12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개 세션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A55E327-0148-857D-7B00-B6786E7C6AD9}"/>
              </a:ext>
            </a:extLst>
          </p:cNvPr>
          <p:cNvSpPr/>
          <p:nvPr/>
        </p:nvSpPr>
        <p:spPr>
          <a:xfrm>
            <a:off x="6035462" y="1316718"/>
            <a:ext cx="4874734" cy="3638460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0B5C4F-E821-A4E3-1A07-CC63DAE2D8A8}"/>
              </a:ext>
            </a:extLst>
          </p:cNvPr>
          <p:cNvSpPr txBox="1"/>
          <p:nvPr/>
        </p:nvSpPr>
        <p:spPr>
          <a:xfrm>
            <a:off x="6200084" y="1574165"/>
            <a:ext cx="4577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더 고도화된 모델 사용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1.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기본적인 모델로는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SVM, LOF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추가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2.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데이터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labeling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명확하지 않은 상황이기 때문에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비지도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또는 반지도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학습법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그 중에서도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PU-Learning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와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AutoEncoder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역시 타당하고 반드시 필요한 접근법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3.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의사결정나무가 성능이 좋았기 때문에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추가로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XGBoost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LightGBM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6C5BA18-532D-6E4F-C916-1AC61F1288EE}"/>
              </a:ext>
            </a:extLst>
          </p:cNvPr>
          <p:cNvSpPr/>
          <p:nvPr/>
        </p:nvSpPr>
        <p:spPr>
          <a:xfrm>
            <a:off x="868670" y="3396114"/>
            <a:ext cx="4874734" cy="155906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9281E-2192-BB20-1955-91CC5B326D16}"/>
              </a:ext>
            </a:extLst>
          </p:cNvPr>
          <p:cNvSpPr txBox="1"/>
          <p:nvPr/>
        </p:nvSpPr>
        <p:spPr>
          <a:xfrm>
            <a:off x="1025318" y="3553765"/>
            <a:ext cx="45773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거시적 이분법에서 군집 인지형 모델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(Cluster-aware Modeling)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로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전체 방송을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'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정상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vs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비정상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'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으로 묶어버리는 획일적인 단일 분류기 폐기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HDBSCAN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등으로 파악된 방송 유형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예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: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소통 활발형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게임 집중형 등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먼저 분류한 뒤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각 군집별 특성에 맞는 독립적인 이상 탐지 기준을 적용하는 고도화된 파이프라인 구축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EC5DB0-A0EB-A17D-8579-0C344A4ADA1C}"/>
              </a:ext>
            </a:extLst>
          </p:cNvPr>
          <p:cNvSpPr txBox="1"/>
          <p:nvPr/>
        </p:nvSpPr>
        <p:spPr>
          <a:xfrm>
            <a:off x="6200083" y="3086794"/>
            <a:ext cx="45773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본질적으로 원래 데이터는 시계열 데이터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시계열 데이터를 가공한 현재 데이터로 충분히 유의미한 결과가 나오지 않는다면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시계열 데이터 자체를 바탕으로 모델을 학습해야 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1.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기본적인 모델로는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Sliding Window,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tsfresh</a:t>
            </a:r>
            <a:b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</a:b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2. 1D-CNN, LSTM / GRU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등의 신경망 모델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3. LSTM –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AutoEncoder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(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만약 가능하다면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0F0F76-BF3C-8E5D-BA8B-5892F140435C}"/>
              </a:ext>
            </a:extLst>
          </p:cNvPr>
          <p:cNvSpPr/>
          <p:nvPr/>
        </p:nvSpPr>
        <p:spPr>
          <a:xfrm>
            <a:off x="876649" y="5172663"/>
            <a:ext cx="4874734" cy="128826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AE1113-5C6F-00B0-FB22-56C2E33A5D9B}"/>
              </a:ext>
            </a:extLst>
          </p:cNvPr>
          <p:cNvSpPr txBox="1"/>
          <p:nvPr/>
        </p:nvSpPr>
        <p:spPr>
          <a:xfrm>
            <a:off x="1017338" y="5232019"/>
            <a:ext cx="45773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Ground-Truth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문재 해결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현재 데이터는 결국 자의적인 판단이 가미되었고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실질적으로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인지는 알 수 없는 상황임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가능하다면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실제로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관련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Dataset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찾아보거나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최근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의해 정지된 스트리밍의 데이터를 수집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하지만 실질적으로는 쉽지 않을 것으로 예상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B57C8BD-9537-7995-69AA-57B071E8B564}"/>
              </a:ext>
            </a:extLst>
          </p:cNvPr>
          <p:cNvSpPr/>
          <p:nvPr/>
        </p:nvSpPr>
        <p:spPr>
          <a:xfrm>
            <a:off x="6035462" y="5167250"/>
            <a:ext cx="4874734" cy="1288264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663C2F-CF88-60A7-A402-5E548DA9BC81}"/>
              </a:ext>
            </a:extLst>
          </p:cNvPr>
          <p:cNvSpPr txBox="1"/>
          <p:nvPr/>
        </p:nvSpPr>
        <p:spPr>
          <a:xfrm>
            <a:off x="6184130" y="5283835"/>
            <a:ext cx="4577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실시간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Tracking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문제</a:t>
            </a:r>
            <a:endParaRPr lang="en-US" altLang="ko-KR" sz="1400" b="1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현재 모델은 방송 도중 판단하는 것이 아니라 데이터를 추출한 이후 모델을 바탕으로 판단함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방송 도중 이를 </a:t>
            </a:r>
            <a:r>
              <a:rPr lang="ko-KR" altLang="en-US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판단할수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있도록 파이프라인을 짜면 실질적인 도움이 될 것임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536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142B-F11B-66B9-F687-0B97EBDA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2E7F1A8-AAEC-15D5-0741-ED8BCB03F1B2}"/>
              </a:ext>
            </a:extLst>
          </p:cNvPr>
          <p:cNvSpPr/>
          <p:nvPr/>
        </p:nvSpPr>
        <p:spPr>
          <a:xfrm>
            <a:off x="868670" y="1316718"/>
            <a:ext cx="4874734" cy="2019562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D27FFD-F295-3A77-4C96-C09C25C65BBB}"/>
              </a:ext>
            </a:extLst>
          </p:cNvPr>
          <p:cNvSpPr/>
          <p:nvPr/>
        </p:nvSpPr>
        <p:spPr>
          <a:xfrm>
            <a:off x="604203" y="988567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B0EF18-4858-7547-B3BD-84D173B712E1}"/>
              </a:ext>
            </a:extLst>
          </p:cNvPr>
          <p:cNvSpPr/>
          <p:nvPr/>
        </p:nvSpPr>
        <p:spPr>
          <a:xfrm>
            <a:off x="1046100" y="988567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05ED4-A5C3-1E03-3F43-3459FCD41DFC}"/>
              </a:ext>
            </a:extLst>
          </p:cNvPr>
          <p:cNvSpPr txBox="1"/>
          <p:nvPr/>
        </p:nvSpPr>
        <p:spPr>
          <a:xfrm>
            <a:off x="533083" y="641450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기말에는 조금 더 좋은 모델을 만들어 </a:t>
            </a:r>
            <a:r>
              <a:rPr lang="ko-KR" altLang="en-US" sz="1200" dirty="0" err="1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의미있는</a:t>
            </a:r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결과를 낼 수 있길</a:t>
            </a:r>
            <a:r>
              <a:rPr lang="en-US" altLang="ko-KR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….</a:t>
            </a:r>
            <a:endParaRPr lang="ko-KR" altLang="en-US" sz="1200" dirty="0">
              <a:solidFill>
                <a:srgbClr val="22523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6B07D7-1CE1-6E10-8528-E5C8187ED84B}"/>
              </a:ext>
            </a:extLst>
          </p:cNvPr>
          <p:cNvSpPr txBox="1"/>
          <p:nvPr/>
        </p:nvSpPr>
        <p:spPr>
          <a:xfrm>
            <a:off x="516299" y="243181"/>
            <a:ext cx="9877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4.2.2.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구체적인 실험</a:t>
            </a:r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/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튜닝 계획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A5060-B626-6147-BAA3-130835E795CB}"/>
              </a:ext>
            </a:extLst>
          </p:cNvPr>
          <p:cNvSpPr txBox="1"/>
          <p:nvPr/>
        </p:nvSpPr>
        <p:spPr>
          <a:xfrm>
            <a:off x="1025318" y="1439534"/>
            <a:ext cx="457739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하이퍼파라미터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최적화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(~5/26)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GridSearch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는 기본적으로 진행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NN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경우 아직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GridSearch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를 진행하지 않았기 때문에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많은 성능 향상이 있을 것으로 예상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더 나아가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Optuna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등의 베이지안 최적화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(Bayesian Optimization)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프레임워크를 도입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이를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NN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 적용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그리고 추가로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lightGBM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</a:t>
            </a:r>
            <a:r>
              <a:rPr lang="ko-KR" altLang="en-US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학습률이나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num_leaves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그리고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AutoEncoder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에서도 사용할 예정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89D9D81-D9F2-0D3B-3221-EC7CA5C3B748}"/>
              </a:ext>
            </a:extLst>
          </p:cNvPr>
          <p:cNvSpPr/>
          <p:nvPr/>
        </p:nvSpPr>
        <p:spPr>
          <a:xfrm>
            <a:off x="6044612" y="897207"/>
            <a:ext cx="4874734" cy="1861911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35F964-15E6-07CC-F81C-E8CEF859B633}"/>
              </a:ext>
            </a:extLst>
          </p:cNvPr>
          <p:cNvSpPr txBox="1"/>
          <p:nvPr/>
        </p:nvSpPr>
        <p:spPr>
          <a:xfrm>
            <a:off x="6193278" y="1020023"/>
            <a:ext cx="45773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특화된 평가지표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(Metric)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전환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(~5/15)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데이터가 극소수인 환경에서는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Accuracy(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정확도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가 의미를 상실함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Recall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 훨씬 중요함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향후 실험 평가는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Precision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과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Recall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의 가중조화평균인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F_beta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-Score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와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불균형 데이터 평가에 가장 강력한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PR-AUC (Precision-Recall Area Under Curve)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지표를 최우선 기준으로 삼아 모델을 최적화</a:t>
            </a:r>
            <a:endParaRPr lang="en-US" altLang="ko-KR" sz="14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38CCFE3-F8B7-8218-1269-6062E889F0DB}"/>
              </a:ext>
            </a:extLst>
          </p:cNvPr>
          <p:cNvSpPr/>
          <p:nvPr/>
        </p:nvSpPr>
        <p:spPr>
          <a:xfrm>
            <a:off x="876649" y="3596410"/>
            <a:ext cx="4874734" cy="1358768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D60E9-7730-7955-78EA-010982BBE3FE}"/>
              </a:ext>
            </a:extLst>
          </p:cNvPr>
          <p:cNvSpPr txBox="1"/>
          <p:nvPr/>
        </p:nvSpPr>
        <p:spPr>
          <a:xfrm>
            <a:off x="1017338" y="3655766"/>
            <a:ext cx="45773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Cross-Validation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도입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(~5/26)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현재의 단일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Train-Test Split(8:2)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구조는 우연에 의해 성능이 높게 측정되었을 가능성이 있음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 Stratified K-Fold Cross Validation (K=5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또는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10)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적용하여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어떤 데이터가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Test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셋으로 빠지더라도 성능이 흔들리지 않는지 모델의 분산과 강건성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(Robustness)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확인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488B5A5-DFBF-F16B-69AA-D767FB0D49B1}"/>
              </a:ext>
            </a:extLst>
          </p:cNvPr>
          <p:cNvSpPr/>
          <p:nvPr/>
        </p:nvSpPr>
        <p:spPr>
          <a:xfrm>
            <a:off x="6035459" y="3013034"/>
            <a:ext cx="4874734" cy="1938698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265FD1-05AB-7A57-7C96-3D393C4B5897}"/>
              </a:ext>
            </a:extLst>
          </p:cNvPr>
          <p:cNvSpPr txBox="1"/>
          <p:nvPr/>
        </p:nvSpPr>
        <p:spPr>
          <a:xfrm>
            <a:off x="6184127" y="3182164"/>
            <a:ext cx="45773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Ablation Study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을 통한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Feature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검증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(~5/28)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SHAP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분석으로 파악한 핵심 변수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zero_chat_rate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en-US" altLang="ko-KR" sz="1400" dirty="0" err="1">
                <a:latin typeface="나눔바른펜" panose="020B0503000000000000" pitchFamily="50" charset="-127"/>
                <a:ea typeface="나눔바른펜" panose="020B0503000000000000" pitchFamily="50" charset="-127"/>
              </a:rPr>
              <a:t>median_gap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등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)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들을 기말 모델에서 하나씩 의도적으로 제거해가며 성능 하락 폭을 측정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이를 통해 해당 변수들이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View-Bot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예측에 실제로 얼마나 지배적인 기여를 하는지 정량적으로 교차 검증하고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불필요한 노이즈 변수를 제거하여 모델의 신뢰도를 확보할 예정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554C479-30CD-F413-1DD8-8F2653D949C2}"/>
              </a:ext>
            </a:extLst>
          </p:cNvPr>
          <p:cNvSpPr/>
          <p:nvPr/>
        </p:nvSpPr>
        <p:spPr>
          <a:xfrm>
            <a:off x="892235" y="5215309"/>
            <a:ext cx="10017960" cy="906818"/>
          </a:xfrm>
          <a:prstGeom prst="roundRect">
            <a:avLst>
              <a:gd name="adj" fmla="val 6009"/>
            </a:avLst>
          </a:prstGeom>
          <a:solidFill>
            <a:srgbClr val="DFE9E6"/>
          </a:solidFill>
          <a:ln w="28575">
            <a:solidFill>
              <a:srgbClr val="90B3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711F04-10F0-030F-C14A-840EDC85F8FD}"/>
              </a:ext>
            </a:extLst>
          </p:cNvPr>
          <p:cNvSpPr txBox="1"/>
          <p:nvPr/>
        </p:nvSpPr>
        <p:spPr>
          <a:xfrm>
            <a:off x="1017337" y="5302075"/>
            <a:ext cx="98161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-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다중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Classifier </a:t>
            </a: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결과 적용 </a:t>
            </a:r>
            <a:r>
              <a:rPr lang="en-US" altLang="ko-KR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(~5/15)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400" b="1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  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기존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K-Means Clustering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에서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K=2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일 때의 결과를 바탕으로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Baseline 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모델을 학습시켰는데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, K=2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보다 더 다양하게 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Clustering</a:t>
            </a:r>
            <a:r>
              <a:rPr lang="ko-KR" altLang="en-US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되는 결과를 확인했기 때문에 기존 모델들을 수정해야 함</a:t>
            </a:r>
            <a:r>
              <a:rPr lang="en-US" altLang="ko-KR" sz="1400" dirty="0">
                <a:latin typeface="나눔바른펜" panose="020B0503000000000000" pitchFamily="50" charset="-127"/>
                <a:ea typeface="나눔바른펜" panose="020B0503000000000000" pitchFamily="50" charset="-127"/>
              </a:rPr>
              <a:t>.</a:t>
            </a:r>
            <a:endParaRPr lang="en-US" altLang="ko-KR" sz="1200" dirty="0">
              <a:latin typeface="나눔바른펜" panose="020B0503000000000000" pitchFamily="50" charset="-127"/>
              <a:ea typeface="나눔바른펜" panose="020B05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98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9B3C9C-0104-4F2F-A8B5-F9C8CE795A1E}"/>
              </a:ext>
            </a:extLst>
          </p:cNvPr>
          <p:cNvSpPr/>
          <p:nvPr/>
        </p:nvSpPr>
        <p:spPr>
          <a:xfrm>
            <a:off x="766763" y="1309684"/>
            <a:ext cx="441897" cy="110667"/>
          </a:xfrm>
          <a:prstGeom prst="rect">
            <a:avLst/>
          </a:prstGeom>
          <a:solidFill>
            <a:srgbClr val="2252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151B0C-BAC1-439D-B27A-C046850AD7F7}"/>
              </a:ext>
            </a:extLst>
          </p:cNvPr>
          <p:cNvSpPr/>
          <p:nvPr/>
        </p:nvSpPr>
        <p:spPr>
          <a:xfrm>
            <a:off x="1208660" y="1309684"/>
            <a:ext cx="3698240" cy="1106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22523B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F814CC-CF41-490F-9FEC-9100356CE3B6}"/>
              </a:ext>
            </a:extLst>
          </p:cNvPr>
          <p:cNvSpPr txBox="1"/>
          <p:nvPr/>
        </p:nvSpPr>
        <p:spPr>
          <a:xfrm>
            <a:off x="695643" y="962567"/>
            <a:ext cx="4734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22523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예상 수행 일정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70921D-DCDD-4C5A-A541-146D9979211D}"/>
              </a:ext>
            </a:extLst>
          </p:cNvPr>
          <p:cNvSpPr txBox="1"/>
          <p:nvPr/>
        </p:nvSpPr>
        <p:spPr>
          <a:xfrm>
            <a:off x="678859" y="564298"/>
            <a:ext cx="473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4.2.3. </a:t>
            </a:r>
            <a:r>
              <a:rPr lang="ko-KR" altLang="en-US" sz="2000" dirty="0">
                <a:solidFill>
                  <a:srgbClr val="22523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기말 프로젝트 로드맵</a:t>
            </a: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3348329D-4499-4408-BF87-7961BB3F1716}"/>
              </a:ext>
            </a:extLst>
          </p:cNvPr>
          <p:cNvCxnSpPr>
            <a:cxnSpLocks/>
          </p:cNvCxnSpPr>
          <p:nvPr/>
        </p:nvCxnSpPr>
        <p:spPr>
          <a:xfrm>
            <a:off x="288912" y="3962028"/>
            <a:ext cx="11614176" cy="0"/>
          </a:xfrm>
          <a:prstGeom prst="line">
            <a:avLst/>
          </a:prstGeom>
          <a:ln w="38100">
            <a:solidFill>
              <a:srgbClr val="22523B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각 삼각형 30">
            <a:extLst>
              <a:ext uri="{FF2B5EF4-FFF2-40B4-BE49-F238E27FC236}">
                <a16:creationId xmlns:a16="http://schemas.microsoft.com/office/drawing/2014/main" id="{2131BC82-1CE9-4D5E-BCC2-42BDCAFBEB56}"/>
              </a:ext>
            </a:extLst>
          </p:cNvPr>
          <p:cNvSpPr/>
          <p:nvPr/>
        </p:nvSpPr>
        <p:spPr>
          <a:xfrm rot="5400000">
            <a:off x="481158" y="2550882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AA53BFB8-7FEC-4A3E-B3AB-0CEE76055FF8}"/>
              </a:ext>
            </a:extLst>
          </p:cNvPr>
          <p:cNvSpPr/>
          <p:nvPr/>
        </p:nvSpPr>
        <p:spPr>
          <a:xfrm>
            <a:off x="593721" y="2111395"/>
            <a:ext cx="2982869" cy="150679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각 삼각형 39">
            <a:extLst>
              <a:ext uri="{FF2B5EF4-FFF2-40B4-BE49-F238E27FC236}">
                <a16:creationId xmlns:a16="http://schemas.microsoft.com/office/drawing/2014/main" id="{9879DB84-74C5-4EBD-AB6A-730BEEB9D4A8}"/>
              </a:ext>
            </a:extLst>
          </p:cNvPr>
          <p:cNvSpPr/>
          <p:nvPr/>
        </p:nvSpPr>
        <p:spPr>
          <a:xfrm rot="5400000">
            <a:off x="4382814" y="254105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648F96E-6328-4580-A70E-BB980BDA85EF}"/>
              </a:ext>
            </a:extLst>
          </p:cNvPr>
          <p:cNvSpPr/>
          <p:nvPr/>
        </p:nvSpPr>
        <p:spPr>
          <a:xfrm>
            <a:off x="4495376" y="2341561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각 삼각형 45">
            <a:extLst>
              <a:ext uri="{FF2B5EF4-FFF2-40B4-BE49-F238E27FC236}">
                <a16:creationId xmlns:a16="http://schemas.microsoft.com/office/drawing/2014/main" id="{70E9693B-9B82-482D-9856-53DC10CEEAAB}"/>
              </a:ext>
            </a:extLst>
          </p:cNvPr>
          <p:cNvSpPr/>
          <p:nvPr/>
        </p:nvSpPr>
        <p:spPr>
          <a:xfrm rot="5400000">
            <a:off x="8387382" y="2523180"/>
            <a:ext cx="1238173" cy="1294453"/>
          </a:xfrm>
          <a:prstGeom prst="rtTriangle">
            <a:avLst/>
          </a:prstGeom>
          <a:solidFill>
            <a:srgbClr val="22523B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0269922-B045-445A-A76A-CA69A2126A8A}"/>
              </a:ext>
            </a:extLst>
          </p:cNvPr>
          <p:cNvSpPr/>
          <p:nvPr/>
        </p:nvSpPr>
        <p:spPr>
          <a:xfrm>
            <a:off x="8499944" y="1641507"/>
            <a:ext cx="2982869" cy="194898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15E77-F333-45F1-9D2B-7788499564CD}"/>
              </a:ext>
            </a:extLst>
          </p:cNvPr>
          <p:cNvSpPr txBox="1"/>
          <p:nvPr/>
        </p:nvSpPr>
        <p:spPr>
          <a:xfrm>
            <a:off x="740175" y="2358309"/>
            <a:ext cx="2682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5.15: 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기본 모델 수정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738F8A6-CEEC-4D18-AFE3-205BB9FDE21E}"/>
              </a:ext>
            </a:extLst>
          </p:cNvPr>
          <p:cNvSpPr txBox="1"/>
          <p:nvPr/>
        </p:nvSpPr>
        <p:spPr>
          <a:xfrm>
            <a:off x="740176" y="2598986"/>
            <a:ext cx="2497293" cy="89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새로운 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Clustering 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결과는 이진 분류가 부적절함을 실증함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기존 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Baseline Model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들을 다중 분류기로 업데이트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973123A-9B42-4ABB-82AA-47FFADD60FD0}"/>
              </a:ext>
            </a:extLst>
          </p:cNvPr>
          <p:cNvSpPr txBox="1"/>
          <p:nvPr/>
        </p:nvSpPr>
        <p:spPr>
          <a:xfrm>
            <a:off x="4678598" y="2769620"/>
            <a:ext cx="2682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6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월 첫째 주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 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데이터 수집 마감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BE2A1B-82BE-4933-A3EC-D8EE7BFA2373}"/>
              </a:ext>
            </a:extLst>
          </p:cNvPr>
          <p:cNvSpPr txBox="1"/>
          <p:nvPr/>
        </p:nvSpPr>
        <p:spPr>
          <a:xfrm>
            <a:off x="8712196" y="1942532"/>
            <a:ext cx="2682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6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월 둘째 주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 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실시간 탐지 파이프라인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DE53D2-A609-40AF-8ABF-7F09288C1C87}"/>
              </a:ext>
            </a:extLst>
          </p:cNvPr>
          <p:cNvSpPr txBox="1"/>
          <p:nvPr/>
        </p:nvSpPr>
        <p:spPr>
          <a:xfrm>
            <a:off x="8712197" y="2183209"/>
            <a:ext cx="2497293" cy="1172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실시간 파이프라인을 구축하여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 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우리의 모델이 상식과 부합하는지 확인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 </a:t>
            </a:r>
            <a:r>
              <a:rPr lang="ko-KR" altLang="en-US" sz="1200" dirty="0" err="1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랜덤한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스트리밍이 </a:t>
            </a:r>
            <a:r>
              <a:rPr lang="ko-KR" altLang="en-US" sz="1200" dirty="0" err="1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뷰봇으로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의심될 때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모델은 이를 어떻게 판단하는지 검증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69688C57-1D99-4BC1-B23B-C65754B30E1D}"/>
              </a:ext>
            </a:extLst>
          </p:cNvPr>
          <p:cNvSpPr/>
          <p:nvPr/>
        </p:nvSpPr>
        <p:spPr>
          <a:xfrm>
            <a:off x="306322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endParaRPr lang="ko-KR" altLang="en-US" sz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4EDD44C-E7E4-454E-A6BA-465A8CD68B26}"/>
              </a:ext>
            </a:extLst>
          </p:cNvPr>
          <p:cNvSpPr/>
          <p:nvPr/>
        </p:nvSpPr>
        <p:spPr>
          <a:xfrm>
            <a:off x="4204764" y="2219531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endParaRPr lang="ko-KR" altLang="en-US" sz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FC287269-9AD2-4AEC-B3D3-3CF0803BD7E9}"/>
              </a:ext>
            </a:extLst>
          </p:cNvPr>
          <p:cNvSpPr/>
          <p:nvPr/>
        </p:nvSpPr>
        <p:spPr>
          <a:xfrm>
            <a:off x="8219388" y="2223742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5</a:t>
            </a:r>
            <a:endParaRPr lang="ko-KR" altLang="en-US" sz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직각 삼각형 41">
            <a:extLst>
              <a:ext uri="{FF2B5EF4-FFF2-40B4-BE49-F238E27FC236}">
                <a16:creationId xmlns:a16="http://schemas.microsoft.com/office/drawing/2014/main" id="{B9DDABC1-3645-4E78-8377-2B55C304CAA7}"/>
              </a:ext>
            </a:extLst>
          </p:cNvPr>
          <p:cNvSpPr/>
          <p:nvPr/>
        </p:nvSpPr>
        <p:spPr>
          <a:xfrm rot="10800000" flipV="1">
            <a:off x="2679062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56572E87-A513-4EFA-8995-24B28A1B9FD6}"/>
              </a:ext>
            </a:extLst>
          </p:cNvPr>
          <p:cNvSpPr/>
          <p:nvPr/>
        </p:nvSpPr>
        <p:spPr>
          <a:xfrm>
            <a:off x="776923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각 삼각형 43">
            <a:extLst>
              <a:ext uri="{FF2B5EF4-FFF2-40B4-BE49-F238E27FC236}">
                <a16:creationId xmlns:a16="http://schemas.microsoft.com/office/drawing/2014/main" id="{660DD68D-D178-4932-9829-9F1C912B0FE6}"/>
              </a:ext>
            </a:extLst>
          </p:cNvPr>
          <p:cNvSpPr/>
          <p:nvPr/>
        </p:nvSpPr>
        <p:spPr>
          <a:xfrm rot="10800000" flipV="1">
            <a:off x="6600514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2F72EAC-FDED-424D-9ED4-EC6E79BD0699}"/>
              </a:ext>
            </a:extLst>
          </p:cNvPr>
          <p:cNvSpPr/>
          <p:nvPr/>
        </p:nvSpPr>
        <p:spPr>
          <a:xfrm>
            <a:off x="4683134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169050-79DB-43B9-882E-9D2D47F7441D}"/>
              </a:ext>
            </a:extLst>
          </p:cNvPr>
          <p:cNvSpPr txBox="1"/>
          <p:nvPr/>
        </p:nvSpPr>
        <p:spPr>
          <a:xfrm>
            <a:off x="4983613" y="4692479"/>
            <a:ext cx="2682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6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월 첫째 주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 심화 모델 학습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87285B4-9636-4D62-8333-AECF5423D646}"/>
              </a:ext>
            </a:extLst>
          </p:cNvPr>
          <p:cNvSpPr txBox="1"/>
          <p:nvPr/>
        </p:nvSpPr>
        <p:spPr>
          <a:xfrm>
            <a:off x="4983614" y="4933156"/>
            <a:ext cx="2497293" cy="341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시계열 데이터 기반 모델 학습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.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486AC7-711C-4C8C-8343-02C7F6DED5B0}"/>
              </a:ext>
            </a:extLst>
          </p:cNvPr>
          <p:cNvSpPr txBox="1"/>
          <p:nvPr/>
        </p:nvSpPr>
        <p:spPr>
          <a:xfrm>
            <a:off x="942514" y="4544432"/>
            <a:ext cx="2682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5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월 마지막 주</a:t>
            </a:r>
            <a:r>
              <a:rPr lang="en-US" altLang="ko-KR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: </a:t>
            </a:r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새로운 모델의 추가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0760DC-5210-4EFA-9979-874B32F00C30}"/>
              </a:ext>
            </a:extLst>
          </p:cNvPr>
          <p:cNvSpPr txBox="1"/>
          <p:nvPr/>
        </p:nvSpPr>
        <p:spPr>
          <a:xfrm>
            <a:off x="942515" y="4785109"/>
            <a:ext cx="2497293" cy="618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Baseline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 모델 대비 성능 향상이 어느 정도 이루어지는지 확인하기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 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15F186E-AC24-4433-BD0D-E2728CD9464B}"/>
              </a:ext>
            </a:extLst>
          </p:cNvPr>
          <p:cNvSpPr/>
          <p:nvPr/>
        </p:nvSpPr>
        <p:spPr>
          <a:xfrm>
            <a:off x="3605400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CCB6F29-79AF-48D0-8061-2C05E2373893}"/>
              </a:ext>
            </a:extLst>
          </p:cNvPr>
          <p:cNvSpPr/>
          <p:nvPr/>
        </p:nvSpPr>
        <p:spPr>
          <a:xfrm>
            <a:off x="7499905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endParaRPr lang="ko-KR" altLang="en-US" sz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7" name="직각 삼각형 36">
            <a:extLst>
              <a:ext uri="{FF2B5EF4-FFF2-40B4-BE49-F238E27FC236}">
                <a16:creationId xmlns:a16="http://schemas.microsoft.com/office/drawing/2014/main" id="{5FE10CEF-5875-46F2-8653-561E45839288}"/>
              </a:ext>
            </a:extLst>
          </p:cNvPr>
          <p:cNvSpPr/>
          <p:nvPr/>
        </p:nvSpPr>
        <p:spPr>
          <a:xfrm rot="10800000" flipV="1">
            <a:off x="10495007" y="4181117"/>
            <a:ext cx="1238175" cy="1294455"/>
          </a:xfrm>
          <a:prstGeom prst="rtTriangle">
            <a:avLst/>
          </a:prstGeom>
          <a:solidFill>
            <a:srgbClr val="15332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480E7BA-BF52-4FCF-AE76-16759D799522}"/>
              </a:ext>
            </a:extLst>
          </p:cNvPr>
          <p:cNvSpPr/>
          <p:nvPr/>
        </p:nvSpPr>
        <p:spPr>
          <a:xfrm>
            <a:off x="8577627" y="4328359"/>
            <a:ext cx="2982869" cy="1266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ㅎ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FBC1C8-5392-4715-8F47-F7B3911FAA66}"/>
              </a:ext>
            </a:extLst>
          </p:cNvPr>
          <p:cNvSpPr txBox="1"/>
          <p:nvPr/>
        </p:nvSpPr>
        <p:spPr>
          <a:xfrm>
            <a:off x="8725841" y="4692479"/>
            <a:ext cx="26822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183C2B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기말 발표 준비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D5C182-084B-4867-ACC2-31B4BD57D389}"/>
              </a:ext>
            </a:extLst>
          </p:cNvPr>
          <p:cNvSpPr txBox="1"/>
          <p:nvPr/>
        </p:nvSpPr>
        <p:spPr>
          <a:xfrm>
            <a:off x="8725842" y="4933156"/>
            <a:ext cx="2497293" cy="341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마지막 발표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, </a:t>
            </a:r>
            <a:r>
              <a:rPr lang="ko-KR" altLang="en-US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수행한 모든 것을 보여주기</a:t>
            </a:r>
            <a:r>
              <a:rPr lang="en-US" altLang="ko-KR" sz="1200" dirty="0">
                <a:solidFill>
                  <a:srgbClr val="183C2B"/>
                </a:solidFill>
                <a:latin typeface="나눔바른펜" panose="020B0503000000000000" pitchFamily="50" charset="-127"/>
                <a:ea typeface="나눔바른펜" panose="020B0503000000000000" pitchFamily="50" charset="-127"/>
                <a:cs typeface="코트라 볼드체" panose="02020603020101020101" pitchFamily="18" charset="-127"/>
              </a:rPr>
              <a:t>!</a:t>
            </a:r>
            <a:endParaRPr lang="ko-KR" altLang="en-US" sz="1200" dirty="0">
              <a:solidFill>
                <a:srgbClr val="183C2B"/>
              </a:solidFill>
              <a:latin typeface="나눔바른펜" panose="020B0503000000000000" pitchFamily="50" charset="-127"/>
              <a:ea typeface="나눔바른펜" panose="020B0503000000000000" pitchFamily="50" charset="-127"/>
              <a:cs typeface="코트라 볼드체" panose="02020603020101020101" pitchFamily="18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A134B01-3C5A-4363-8BC4-BA24A9787792}"/>
              </a:ext>
            </a:extLst>
          </p:cNvPr>
          <p:cNvSpPr/>
          <p:nvPr/>
        </p:nvSpPr>
        <p:spPr>
          <a:xfrm>
            <a:off x="11394398" y="5217687"/>
            <a:ext cx="441897" cy="441897"/>
          </a:xfrm>
          <a:prstGeom prst="ellipse">
            <a:avLst/>
          </a:prstGeom>
          <a:solidFill>
            <a:srgbClr val="A1BF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6</a:t>
            </a:r>
            <a:endParaRPr lang="ko-KR" altLang="en-US" sz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B31BEA-5B46-4EFF-BC6B-66B3258EAAE3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함초롬돋움" panose="020B0604000101010101" pitchFamily="50" charset="-127"/>
                <a:ea typeface="함초롬돋움" panose="020B0604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함초롬돋움" panose="020B0604000101010101" pitchFamily="50" charset="-127"/>
                <a:ea typeface="함초롬돋움" panose="020B0604000101010101" pitchFamily="50" charset="-127"/>
              </a:rPr>
              <a:t>YEONDU-UNNIE POWERPOINT PRESENTATION</a:t>
            </a:r>
            <a:endParaRPr lang="ko-KR" altLang="en-US" sz="800" b="1" dirty="0">
              <a:latin typeface="함초롬돋움" panose="020B0604000101010101" pitchFamily="50" charset="-127"/>
              <a:ea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8146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554CC0-8B52-4285-9519-0DF1F6CC0AC9}"/>
              </a:ext>
            </a:extLst>
          </p:cNvPr>
          <p:cNvSpPr txBox="1"/>
          <p:nvPr/>
        </p:nvSpPr>
        <p:spPr>
          <a:xfrm>
            <a:off x="1793240" y="235969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chemeClr val="bg1">
                    <a:lumMod val="75000"/>
                  </a:schemeClr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chemeClr val="bg1">
                  <a:lumMod val="75000"/>
                </a:schemeClr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700FA-546B-4D8C-AE89-9DA39A120387}"/>
              </a:ext>
            </a:extLst>
          </p:cNvPr>
          <p:cNvSpPr txBox="1"/>
          <p:nvPr/>
        </p:nvSpPr>
        <p:spPr>
          <a:xfrm>
            <a:off x="1691640" y="2230180"/>
            <a:ext cx="8808720" cy="1569660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/>
          <a:p>
            <a:pPr algn="ctr"/>
            <a:r>
              <a:rPr lang="en-US" altLang="ko-KR" sz="9600" dirty="0">
                <a:solidFill>
                  <a:srgbClr val="577F71"/>
                </a:solidFill>
                <a:latin typeface="코트라 볼드체" panose="02020603020101020101" pitchFamily="18" charset="-127"/>
                <a:ea typeface="코트라 볼드체" panose="02020603020101020101" pitchFamily="18" charset="-127"/>
                <a:cs typeface="코트라 볼드체" panose="02020603020101020101" pitchFamily="18" charset="-127"/>
              </a:rPr>
              <a:t>THANK YOU</a:t>
            </a:r>
            <a:endParaRPr lang="ko-KR" altLang="en-US" sz="9600" dirty="0">
              <a:solidFill>
                <a:srgbClr val="577F71"/>
              </a:solidFill>
              <a:latin typeface="코트라 볼드체" panose="02020603020101020101" pitchFamily="18" charset="-127"/>
              <a:ea typeface="코트라 볼드체" panose="02020603020101020101" pitchFamily="18" charset="-127"/>
              <a:cs typeface="코트라 볼드체" panose="02020603020101020101" pitchFamily="18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263EBAE-B329-4EFD-B04A-CCC263B5A1F1}"/>
              </a:ext>
            </a:extLst>
          </p:cNvPr>
          <p:cNvSpPr/>
          <p:nvPr/>
        </p:nvSpPr>
        <p:spPr>
          <a:xfrm>
            <a:off x="4561840" y="261239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D7C8B3B-98B1-455A-B644-EFB0479D257D}"/>
              </a:ext>
            </a:extLst>
          </p:cNvPr>
          <p:cNvSpPr/>
          <p:nvPr/>
        </p:nvSpPr>
        <p:spPr>
          <a:xfrm>
            <a:off x="7193280" y="2631440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74BAC4D-3E86-409E-A168-88244060925A}"/>
              </a:ext>
            </a:extLst>
          </p:cNvPr>
          <p:cNvSpPr/>
          <p:nvPr/>
        </p:nvSpPr>
        <p:spPr>
          <a:xfrm>
            <a:off x="8204835" y="2527935"/>
            <a:ext cx="111760" cy="111760"/>
          </a:xfrm>
          <a:prstGeom prst="ellipse">
            <a:avLst/>
          </a:prstGeom>
          <a:solidFill>
            <a:srgbClr val="43A3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98103-58C7-45C7-B51D-AA46B0046193}"/>
              </a:ext>
            </a:extLst>
          </p:cNvPr>
          <p:cNvSpPr txBox="1"/>
          <p:nvPr/>
        </p:nvSpPr>
        <p:spPr>
          <a:xfrm>
            <a:off x="9491241" y="6504972"/>
            <a:ext cx="33450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Calibri" panose="020F0502020204030204" pitchFamily="34" charset="0"/>
              </a:rPr>
              <a:t>© </a:t>
            </a:r>
            <a:r>
              <a:rPr lang="en-US" altLang="ko-KR" sz="800" b="1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</a:rPr>
              <a:t>YEONDU-UNNIE POWERPOINT PRESENTATION</a:t>
            </a:r>
            <a:endParaRPr lang="ko-KR" altLang="en-US" sz="800" b="1" dirty="0">
              <a:latin typeface="나눔스퀘어라운드 Bold" panose="020B0600000101010101" pitchFamily="50" charset="-127"/>
              <a:ea typeface="나눔스퀘어라운드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34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4389</Words>
  <Application>Microsoft Office PowerPoint</Application>
  <PresentationFormat>와이드스크린</PresentationFormat>
  <Paragraphs>517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서평원 꺾깎체 TTF</vt:lpstr>
      <vt:lpstr>코트라 볼드체</vt:lpstr>
      <vt:lpstr>나눔바른펜</vt:lpstr>
      <vt:lpstr>Arial</vt:lpstr>
      <vt:lpstr>나눔스퀘어라운드 Bold</vt:lpstr>
      <vt:lpstr>나눔스퀘어 네오 Bold</vt:lpstr>
      <vt:lpstr>맑은 고딕</vt:lpstr>
      <vt:lpstr>카페24 써라운드</vt:lpstr>
      <vt:lpstr>함초롬돋움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 수미</dc:creator>
  <cp:lastModifiedBy>조 시훈</cp:lastModifiedBy>
  <cp:revision>15</cp:revision>
  <dcterms:created xsi:type="dcterms:W3CDTF">2021-08-09T13:33:15Z</dcterms:created>
  <dcterms:modified xsi:type="dcterms:W3CDTF">2026-05-10T07:23:36Z</dcterms:modified>
</cp:coreProperties>
</file>